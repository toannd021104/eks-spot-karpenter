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5"/>
  </p:notesMasterIdLst>
  <p:sldIdLst>
    <p:sldId id="256" r:id="rId4"/>
    <p:sldId id="257" r:id="rId3"/>
    <p:sldId id="258" r:id="rId2"/>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019"/>
    <a:srgbClr val="0804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12"/>
    <p:restoredTop sz="94678"/>
  </p:normalViewPr>
  <p:slideViewPr>
    <p:cSldViewPr snapToGrid="0">
      <p:cViewPr varScale="1">
        <p:scale>
          <a:sx n="56" d="100"/>
          <a:sy n="56" d="100"/>
        </p:scale>
        <p:origin x="11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BD63C4-0799-4A2C-AD48-BC1ED3A02247}" type="datetimeFigureOut">
              <a:rPr lang="vi-VN" smtClean="0"/>
              <a:t>16/03/2026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C2BE50-8498-4475-931F-7BE761A788CB}" type="slidenum">
              <a:rPr lang="vi-VN" smtClean="0"/>
              <a:t>‹#›</a:t>
            </a:fld>
            <a:endParaRPr lang="vi-VN"/>
          </a:p>
        </p:txBody>
      </p:sp>
    </p:spTree>
    <p:extLst>
      <p:ext uri="{BB962C8B-B14F-4D97-AF65-F5344CB8AC3E}">
        <p14:creationId xmlns:p14="http://schemas.microsoft.com/office/powerpoint/2010/main" val="4268330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bài ngắn, 30 giây. Giới thiệu bản thân và chủ đề, nói rõ đây là bài cho người mới nên sẽ dùng ví dụ đời thường. Hứa trước ba phần: Spot là gì, ba cách thêm node cho EKS, và cách đo chi phí bằng OpenCost.</a:t>
            </a:r>
          </a:p>
          <a:p>
            <a:r>
              <a:t>Nguồn: thông tin diễn giả do chính diễn giả cung cấp (Nguyễn Đức Toàn, Technical Cloud Engineer, Keyloop). Đây là bài chia sẻ cá nhân, quan điểm là của diễn giả. Layout slide dùng Title Slide của Template - Remake.pptx; footer "Amazon Web Services, Inc. or its Affiliates." nằm trong layout mẫu, chưa thay (quyết định của diễn giả).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không đưa con số tỷ trọng chi phí cloud vì chưa có nguồn công khai đã kiểm chứng. Nếu muốn thêm số, lấy từ báo cáo State of FinOps của FinOps Foundation và kiểm tra lại số liệu trước khi dùng.</a:t>
            </a:r>
          </a:p>
          <a:p>
            <a:r>
              <a:t>Nguồn: khái niệm FinOps theo https://www.finops.org/introduction/what-is-finops/ .</a:t>
            </a:r>
          </a:p>
          <a:p>
            <a:r>
              <a:t>Câu hỏi dẫn dắt của cả bài: có thể giữ uptime gần 100% mà không đốt tiền không. Bốn thẻ agenda: Spot, 3 cách thêm node, đo bằng OpenCost, bài học.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Ẩn dụ kho hàng 100 ô: 70 ô bán đủ giá, 30 ô giảm giá nhưng có thể bị thu hồi. Spot là dung lượng EC2 dư của AWS, cảnh báo gián đoạn trước 2 phút.</a:t>
            </a:r>
          </a:p>
          <a:p>
            <a:r>
              <a:t>Nguồn: trang AWS EC2 Spot Instances (mức giảm điển hình 50-70%, tối đa khoảng 90%) và tài liệu Spot Instance interruptions (cảnh báo 2 phút). Số "54-67% (ap-southeast-1, 2026-10-20)" lấy từ snapshot giá list trong results/pricing-snapshot-ap-southeast-1.json, là giá niêm yết đọc một lần, không phải cam kết; giá Spot đổi theo AZ và theo phút.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Hợp với Spot: ứng dụng web không giữ trạng thái, worker xử lý hàng đợi, batch, CI. Không hợp: cơ sở dữ liệu một bản, công việc dài không có checkpoint.</a:t>
            </a:r>
          </a:p>
          <a:p>
            <a:r>
              <a:t>Luật Murphy: cái gì có thể hỏng thì sẽ hỏng; thử chủ động bằng cách rút dây điện (chính là bài demo 2 ở slide 12). Giải thích thêm khi hỏi đáp: kiểm tra bằng cách chủ động kill node chứ không chờ sự cố thật.</a:t>
            </a:r>
          </a:p>
          <a:p>
            <a:r>
              <a:t>Nguồn: hướng dẫn "Best practices for Amazon EC2 Spot" của AWS, https://docs.aws.amazon.com/AWSEC2/latest/UserGuide/spot-best-practices.html (linh hoạt nhiều loại instance và AZ, chuẩn bị cho gián đoạn; Spot phù hợp workload stateless, chịu lỗi).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Ẩn dụ lớp học hết ghế: Pod Pending là sinh viên đứng ngoài hành lang. Kubernetes scheduler chỉ xếp Pod vào node đã có; thêm node là việc của một thành phần autoscaler bên ngoài.</a:t>
            </a:r>
          </a:p>
          <a:p>
            <a:r>
              <a:t>Nguồn: tài liệu Kubernetes về Pod lifecycle (Pending khi chưa schedule được) và tài liệu Node autoscaling của Kubernetes.</a:t>
            </a:r>
          </a:p>
          <a:p>
            <a:r>
              <a:t>Chuyển ý: ai thêm ghế? Ba cách ở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cách thêm node: Cluster Autoscaler (qua Auto Scaling Group và node group), Karpenter (gọi EC2 Fleet API trực tiếp, chọn instance theo Pod), EKS Auto Mode (Karpenter do AWS quản lý, tính thêm phí quản lý khoảng 12% giá On-Demand mỗi giờ instance).</a:t>
            </a:r>
          </a:p>
          <a:p>
            <a:r>
              <a:t>Chỉ nêu sự kiện về kiến trúc, chưa so sánh nhanh chậm trước khi có số đo.</a:t>
            </a:r>
          </a:p>
          <a:p>
            <a:r>
              <a:t>Nguồn: tài liệu Cluster Autoscaler (kubernetes/autoscaler), karpenter.sh, và tài liệu AWS "EKS Auto Mode". Phí Auto Mode: bảng giá AWS đọc ngày 2026-10-20 (ví dụ m6i.large 0.0144 USD/giờ so với On-Demand 0.12 USD/giờ), là ước tính theo giá list. "kube net auto scaler" trong đề bài được hiểu là EKS Auto Mode; cần diễn giả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Karpenter v1: NodePool (yêu cầu về instance, capacity type spot và on-demand, giới hạn CPU, consolidation) và EC2NodeClass (AMI, subnet, role). Bốn bước: quan sát Pod Pending, chọn instance, gọi EC2 Fleet, bind Pod. Consolidation tắt hoặc thay node dư; consolidateAfter 30s là giá trị chọn cho demo, không phải mặc định.</a:t>
            </a:r>
          </a:p>
          <a:p>
            <a:r>
              <a:t>Gián đoạn Spot: sự kiện EventBridge đi vào hàng đợi SQS, Karpenter nghe và drain node.</a:t>
            </a:r>
          </a:p>
          <a:p>
            <a:r>
              <a:t>Nguồn: tài liệu karpenter.sh (NodePools, NodeClasses, Disruption, Interruption) phiên bản 1.14.x. Đoạn YAML trên slide là rút gọn từ kubernetes/karpenter/nodepool.yaml.tpl.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demo: một cluster EKS 1.35, hai node hệ thống On-Demand, ba pool node (ca, karpenter, automode) mỗi pool có nhãn và taint scaler=X, ba namespace boutique-ca, boutique-karpenter, boutique-automode, cùng OpenCost và một Prometheus nhỏ. Lý do một cluster: cùng VPC, cùng thời điểm giá Spot, tiết kiệm thời gian và tiền.</a:t>
            </a:r>
          </a:p>
          <a:p>
            <a:r>
              <a:t>Đánh đổi (nói thật): dùng chung control plane và CRD giữa Karpenter tự cài và Auto Mode; AWS khuyên chọn một trong hai ở production, đây là cấu hình chỉ dành cho demo. Nếu cổng go/no-go khi tổng duyệt không qua, chuyển sang hai cluster và ghi chú "2 cluster" trên slide.</a:t>
            </a:r>
          </a:p>
          <a:p>
            <a:r>
              <a:t>Nguồn: docs/decisions.md (quyết định một cluster); tài liệu AWS về chạy Karpenter cùng EKS Auto Mode. Cấu hình chưa chạy thử trên cluster thật tại thời điểm viết kịch bản.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OpenCost: dự án mã nguồn mở thuộc CNCF để phân bổ chi phí Kubernetes theo namespace, label. Demo dùng Prometheus một pod nhỏ thay cho kube-prometheus-stack. Kết quả luôn gọi là "ước tính" vì dựa trên giá list và dung lượng yêu cầu, không phải hóa đơn.</a:t>
            </a:r>
          </a:p>
          <a:p>
            <a:r>
              <a:t>Phí quản lý của Auto Mode không nằm trong số của OpenCost; báo cáo chi phí của demo cộng thêm dòng này và ghi nhãn rõ.</a:t>
            </a:r>
          </a:p>
          <a:p>
            <a:r>
              <a:t>Nguồn: opencost.io, tài liệu OpenCost Helm chart 2.5.x (app 1.121.3). Kubecost là sản phẩm thương mại của IBM; so sánh chi tiết nằm ngoài phạm vi bài.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4 tiêu chí x 3 cách. Ô định tính chỉ nêu sự kiện kiến trúc; mọi từ so sánh như nhanh hơn, rẻ hơn bị cấm trong ô và chỉ được nói sau khi có số đo của chính ô đó. Ô số hiển thị "Đo: ___" cho đến khi metric tương ứng có n lớn hơn hoặc bằng 1; ô chi phí luôn là "Ước tính (OpenCost, giá list)".</a:t>
            </a:r>
          </a:p>
          <a:p>
            <a:r>
              <a:t>Cấu hình công bằng: Cluster Autoscaler chạy với scale-down 2 phút (mặc định 10 phút); n = 3 lần lặp, 1 region, 1 buổi; không phải benchmark thống kê. Nếu rep đầu tiên (khởi động lạnh) bị loại khỏi trung vị thì phải nói rõ.</a:t>
            </a:r>
          </a:p>
          <a:p>
            <a:r>
              <a:t>Nguồn: tài liệu Cluster Autoscaler, karpenter.sh, AWS EKS Auto Mode (nút thay mới định kỳ, mặc định 14 ngày, tối đa 21 ngày); snapshot giá list 2026-10-20 ap-southeast-1.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Thí nghiệm scale-up: REPLICAS=4 Pod pause, mỗi Pod 1 vCPU, 1 GiB, pool bắt đầu từ 0 node và chưa có Pod Boutique. Mốc thời gian lấy từ đối tượng API server (creationTimestamp của Pod, thời điểm Ready của node), không lấy từ đồng hồ laptop. Hiển thị trung vị của 3 lần; min-max nằm trong ghi chú sau khi có số.</a:t>
            </a:r>
          </a:p>
          <a:p>
            <a:r>
              <a:t>Slide dùng biểu đồ cột nếu có số đo, nếu không dùng ba thẻ "TARGET: ___ s (điền sau khi đo)". Không bao giờ đưa số từ dữ liệu giả của fixture kiểm thử lên deck chính.</a:t>
            </a:r>
          </a:p>
          <a:p>
            <a:r>
              <a:t>Nguồn: results/summary.json do fill_results.py sinh từ scaleup-*.csv; kịch bản đo ở docs/runbook.md. Tại thời điểm viết, chưa có số đo thật.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Thí nghiệm chaos: tắt một node Spot (hoặc dùng FIS nếu bật, hoặc drain) trong khi probe gửi yêu cầu vào frontend. Đo recovery_s từ lúc kill đến khi Pod sẵn sàng trên node thay thế và tỷ lệ yêu cầu lỗi trong cửa sổ đo. Thời điểm kill lấy từ đồng hồ máy chạy script nên sai số khoảng 2 giây.</a:t>
            </a:r>
          </a:p>
          <a:p>
            <a:r>
              <a:t>Chế độ thực tế (terminate, fis, drain) được ghi lại trong CSV và nên nói rõ khi trình bày. Các thẻ hiện là placeholder cho đến khi có hàng kind=observed.</a:t>
            </a:r>
          </a:p>
          <a:p>
            <a:r>
              <a:t>Nguồn: results/chaos-*.csv và summary.json; kịch bản đo ở docs/runbook.md.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mục: multi-AZ, đa dạng instance type, PDB, topology spread, fallback sang On-Demand, giám sát IP của subnet. Multi-region tốn kém hơn nhiều (trả hai hạ tầng và đồng bộ dữ liệu) nên chỉ cân nhắc khi cần.</a:t>
            </a:r>
          </a:p>
          <a:p>
            <a:r>
              <a:t>Việc nhiều node Spot có thể bị thu hồi cùng lúc là rủi ro có thật: AWS nói rõ Spot có thể bị thu hồi khi nhu cầu On-Demand tăng đột biến và khuyên linh hoạt về loại máy và AZ (https://docs.aws.amazon.com/AWSEC2/latest/UserGuide/spot-best-practices.html). Slide không kể sự cố cụ thể của công ty nào. Lưu ý từ cùng tài liệu: chuyển sang On-Demand khi Spot bị gián đoạn có thể kéo thêm gián đoạn cho các Spot khác, nên fallback chỉ là lớp dự phòng, không thay cho đa dạng loại máy và AZ. "/24 = 256 địa chỉ, AWS giữ 5" theo tài liệu AWS VPC "Subnet CIDR blocks".</a:t>
            </a:r>
          </a:p>
          <a:p>
            <a:r>
              <a:t>Cắt bớt khi thiếu giờ: giữ multi-AZ, đa dạng instance và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ý mang về: thiết kế chịu gián đoạn, đo trước khi kết luận, đo chi phí trước khi tối ưu. Tài nguyên: opencost.io, karpenter.sh, tài liệu AWS EKS Auto Mode, finops.org.</a:t>
            </a:r>
          </a:p>
          <a:p>
            <a:r>
              <a:t>Không nói rằng công ty nào (kể cả Keyloop) dùng Spot cho production, trừ khi diễn giả tự xác nhận và được phép công bố. Phần này là chỗ có thể thêm kinh nghiệm cá nhân: [Toàn: thêm kinh nghiệm thực tế tại Keyloop nếu có].</a:t>
            </a:r>
          </a:p>
          <a:p>
            <a:r>
              <a:t>Nhắc nhớ: xóa cluster demo bằng 06-down.sh ngay sau buổi nói; cluster rảnh tốn khoảng 0.38 USD mỗi giờ (ước tính theo giá list ngày 2026-10-20).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8041B"/>
        </a:solidFill>
        <a:effectLst/>
      </p:bgPr>
    </p:bg>
    <p:spTree>
      <p:nvGrpSpPr>
        <p:cNvPr id="1" name=""/>
        <p:cNvGrpSpPr/>
        <p:nvPr/>
      </p:nvGrpSpPr>
      <p:grpSpPr>
        <a:xfrm>
          <a:off x="0" y="0"/>
          <a:ext cx="0" cy="0"/>
          <a:chOff x="0" y="0"/>
          <a:chExt cx="0" cy="0"/>
        </a:xfrm>
      </p:grpSpPr>
      <p:pic>
        <p:nvPicPr>
          <p:cNvPr id="7" name="Google Shape;15;p66">
            <a:extLst>
              <a:ext uri="{FF2B5EF4-FFF2-40B4-BE49-F238E27FC236}">
                <a16:creationId xmlns:a16="http://schemas.microsoft.com/office/drawing/2014/main" id="{64DCE6E7-812F-42A0-6F71-EEFA7D1FEEA0}"/>
              </a:ext>
            </a:extLst>
          </p:cNvPr>
          <p:cNvPicPr preferRelativeResize="0"/>
          <p:nvPr userDrawn="1"/>
        </p:nvPicPr>
        <p:blipFill rotWithShape="1">
          <a:blip r:embed="rId2">
            <a:alphaModFix/>
          </a:blip>
          <a:srcRect/>
          <a:stretch/>
        </p:blipFill>
        <p:spPr>
          <a:xfrm>
            <a:off x="0" y="0"/>
            <a:ext cx="12192000" cy="6878782"/>
          </a:xfrm>
          <a:prstGeom prst="rect">
            <a:avLst/>
          </a:prstGeom>
          <a:noFill/>
          <a:ln>
            <a:noFill/>
          </a:ln>
        </p:spPr>
      </p:pic>
      <p:sp>
        <p:nvSpPr>
          <p:cNvPr id="8" name="Google Shape;19;p66">
            <a:extLst>
              <a:ext uri="{FF2B5EF4-FFF2-40B4-BE49-F238E27FC236}">
                <a16:creationId xmlns:a16="http://schemas.microsoft.com/office/drawing/2014/main" id="{896180DA-1E13-B450-0AFF-6B03106FB5AA}"/>
              </a:ext>
            </a:extLst>
          </p:cNvPr>
          <p:cNvSpPr txBox="1"/>
          <p:nvPr userDrawn="1"/>
        </p:nvSpPr>
        <p:spPr>
          <a:xfrm>
            <a:off x="2164556" y="6315964"/>
            <a:ext cx="2834926" cy="1435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F7F7F"/>
              </a:buClr>
              <a:buSzPts val="1120"/>
              <a:buFont typeface="Arial"/>
              <a:buNone/>
            </a:pPr>
            <a:r>
              <a:rPr lang="en-US" sz="933" b="0" i="0" u="none" strike="noStrike" cap="none" dirty="0">
                <a:solidFill>
                  <a:srgbClr val="7F7F7F"/>
                </a:solidFill>
                <a:latin typeface="Amazon Ember" panose="020B0603020204020204" pitchFamily="34" charset="0"/>
                <a:ea typeface="Amazon Ember" panose="020B0603020204020204" pitchFamily="34" charset="0"/>
                <a:cs typeface="Amazon Ember" panose="020B0603020204020204" pitchFamily="34" charset="0"/>
                <a:sym typeface="Arial"/>
              </a:rPr>
              <a:t>Amazon Web Services, Inc. or its Affiliates. </a:t>
            </a:r>
            <a:endParaRPr sz="15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Text Placeholder 16">
            <a:extLst>
              <a:ext uri="{FF2B5EF4-FFF2-40B4-BE49-F238E27FC236}">
                <a16:creationId xmlns:a16="http://schemas.microsoft.com/office/drawing/2014/main" id="{AB2EC284-19D1-B707-7327-DDDC101D55AE}"/>
              </a:ext>
            </a:extLst>
          </p:cNvPr>
          <p:cNvSpPr>
            <a:spLocks noGrp="1"/>
          </p:cNvSpPr>
          <p:nvPr>
            <p:ph type="body" sz="quarter" idx="13" hasCustomPrompt="1"/>
          </p:nvPr>
        </p:nvSpPr>
        <p:spPr>
          <a:xfrm>
            <a:off x="457200" y="4170358"/>
            <a:ext cx="3414713" cy="369332"/>
          </a:xfrm>
        </p:spPr>
        <p:txBody>
          <a:bodyPr/>
          <a:lstStyle>
            <a:lvl1pPr>
              <a:buNone/>
              <a:defRPr sz="2000">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VN"/>
              <a:t>Speaker name</a:t>
            </a:r>
          </a:p>
        </p:txBody>
      </p:sp>
      <p:sp>
        <p:nvSpPr>
          <p:cNvPr id="10" name="Text Placeholder 16">
            <a:extLst>
              <a:ext uri="{FF2B5EF4-FFF2-40B4-BE49-F238E27FC236}">
                <a16:creationId xmlns:a16="http://schemas.microsoft.com/office/drawing/2014/main" id="{B34CEF89-D289-4DCE-277E-BC0B42660475}"/>
              </a:ext>
            </a:extLst>
          </p:cNvPr>
          <p:cNvSpPr>
            <a:spLocks noGrp="1"/>
          </p:cNvSpPr>
          <p:nvPr>
            <p:ph type="body" sz="quarter" idx="14" hasCustomPrompt="1"/>
          </p:nvPr>
        </p:nvSpPr>
        <p:spPr>
          <a:xfrm>
            <a:off x="457200" y="4535573"/>
            <a:ext cx="3414713" cy="313932"/>
          </a:xfrm>
        </p:spPr>
        <p:txBody>
          <a:bodyPr/>
          <a:lstStyle>
            <a:lvl1pPr>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VN"/>
              <a:t>Job title</a:t>
            </a:r>
          </a:p>
        </p:txBody>
      </p:sp>
      <p:pic>
        <p:nvPicPr>
          <p:cNvPr id="11" name="Picture 10" descr="A black and white sign with white text&#10;&#10;AI-generated content may be incorrect.">
            <a:extLst>
              <a:ext uri="{FF2B5EF4-FFF2-40B4-BE49-F238E27FC236}">
                <a16:creationId xmlns:a16="http://schemas.microsoft.com/office/drawing/2014/main" id="{01CA924C-5765-E9EA-F404-A026068E56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6269029"/>
            <a:ext cx="1555750" cy="381000"/>
          </a:xfrm>
          <a:prstGeom prst="rect">
            <a:avLst/>
          </a:prstGeom>
        </p:spPr>
      </p:pic>
      <p:sp>
        <p:nvSpPr>
          <p:cNvPr id="12" name="Text Placeholder 20">
            <a:extLst>
              <a:ext uri="{FF2B5EF4-FFF2-40B4-BE49-F238E27FC236}">
                <a16:creationId xmlns:a16="http://schemas.microsoft.com/office/drawing/2014/main" id="{1202BE2D-3C38-4219-E07B-F011AC806B48}"/>
              </a:ext>
            </a:extLst>
          </p:cNvPr>
          <p:cNvSpPr>
            <a:spLocks noGrp="1"/>
          </p:cNvSpPr>
          <p:nvPr>
            <p:ph type="body" sz="quarter" idx="15" hasCustomPrompt="1"/>
          </p:nvPr>
        </p:nvSpPr>
        <p:spPr>
          <a:xfrm>
            <a:off x="457200" y="2042742"/>
            <a:ext cx="8401792" cy="840230"/>
          </a:xfrm>
        </p:spPr>
        <p:txBody>
          <a:bodyPr>
            <a:normAutofit/>
          </a:bodyPr>
          <a:lstStyle>
            <a:lvl1pPr>
              <a:buNone/>
              <a:defRPr sz="4800" b="1">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Walk in slide</a:t>
            </a:r>
            <a:endParaRPr lang="en-VN"/>
          </a:p>
        </p:txBody>
      </p:sp>
      <p:sp>
        <p:nvSpPr>
          <p:cNvPr id="13" name="Text Placeholder 20">
            <a:extLst>
              <a:ext uri="{FF2B5EF4-FFF2-40B4-BE49-F238E27FC236}">
                <a16:creationId xmlns:a16="http://schemas.microsoft.com/office/drawing/2014/main" id="{B06E23E3-17D4-FAAA-7737-9C9DE7821260}"/>
              </a:ext>
            </a:extLst>
          </p:cNvPr>
          <p:cNvSpPr>
            <a:spLocks noGrp="1"/>
          </p:cNvSpPr>
          <p:nvPr>
            <p:ph type="body" sz="quarter" idx="16" hasCustomPrompt="1"/>
          </p:nvPr>
        </p:nvSpPr>
        <p:spPr>
          <a:xfrm>
            <a:off x="457200" y="2905489"/>
            <a:ext cx="2143496" cy="424732"/>
          </a:xfrm>
        </p:spPr>
        <p:txBody>
          <a:bodyPr/>
          <a:lstStyle>
            <a:lvl1pPr>
              <a:buNone/>
              <a:defRPr sz="2400" b="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Week number</a:t>
            </a:r>
            <a:endParaRPr lang="en-VN"/>
          </a:p>
        </p:txBody>
      </p:sp>
    </p:spTree>
    <p:extLst>
      <p:ext uri="{BB962C8B-B14F-4D97-AF65-F5344CB8AC3E}">
        <p14:creationId xmlns:p14="http://schemas.microsoft.com/office/powerpoint/2010/main" val="1857491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bg>
      <p:bgPr>
        <a:solidFill>
          <a:srgbClr val="08041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1F1304-0D4C-4A06-CBE7-119A785AE423}"/>
              </a:ext>
            </a:extLst>
          </p:cNvPr>
          <p:cNvSpPr/>
          <p:nvPr userDrawn="1"/>
        </p:nvSpPr>
        <p:spPr>
          <a:xfrm>
            <a:off x="0" y="0"/>
            <a:ext cx="12100956" cy="6858000"/>
          </a:xfrm>
          <a:prstGeom prst="rect">
            <a:avLst/>
          </a:prstGeom>
          <a:solidFill>
            <a:srgbClr val="0804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err="1"/>
          </a:p>
        </p:txBody>
      </p:sp>
      <p:sp>
        <p:nvSpPr>
          <p:cNvPr id="3" name="Google Shape;19;p66">
            <a:extLst>
              <a:ext uri="{FF2B5EF4-FFF2-40B4-BE49-F238E27FC236}">
                <a16:creationId xmlns:a16="http://schemas.microsoft.com/office/drawing/2014/main" id="{33A3DACA-925C-11D4-B418-DE25DAB9EE9F}"/>
              </a:ext>
            </a:extLst>
          </p:cNvPr>
          <p:cNvSpPr txBox="1"/>
          <p:nvPr userDrawn="1"/>
        </p:nvSpPr>
        <p:spPr>
          <a:xfrm>
            <a:off x="2164556" y="6315964"/>
            <a:ext cx="2834926" cy="1435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F7F7F"/>
              </a:buClr>
              <a:buSzPts val="1120"/>
              <a:buFont typeface="Arial"/>
              <a:buNone/>
            </a:pPr>
            <a:r>
              <a:rPr lang="en-US" sz="933" b="0" i="0" u="none" strike="noStrike" cap="none" dirty="0">
                <a:solidFill>
                  <a:srgbClr val="7F7F7F"/>
                </a:solidFill>
                <a:latin typeface="+mj-lt"/>
                <a:ea typeface="Arial"/>
                <a:cs typeface="Arial"/>
                <a:sym typeface="Arial"/>
              </a:rPr>
              <a:t>Amazon Web Services, Inc. or its Affiliates. </a:t>
            </a:r>
            <a:endParaRPr sz="1500" dirty="0">
              <a:latin typeface="+mj-lt"/>
            </a:endParaRPr>
          </a:p>
        </p:txBody>
      </p:sp>
      <p:pic>
        <p:nvPicPr>
          <p:cNvPr id="4" name="Picture 3" descr="A black and white sign with white text&#10;&#10;AI-generated content may be incorrect.">
            <a:extLst>
              <a:ext uri="{FF2B5EF4-FFF2-40B4-BE49-F238E27FC236}">
                <a16:creationId xmlns:a16="http://schemas.microsoft.com/office/drawing/2014/main" id="{1A08F034-728C-83A4-E19E-83590BD4B5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200" y="6269029"/>
            <a:ext cx="1555750" cy="381000"/>
          </a:xfrm>
          <a:prstGeom prst="rect">
            <a:avLst/>
          </a:prstGeom>
        </p:spPr>
      </p:pic>
      <p:sp>
        <p:nvSpPr>
          <p:cNvPr id="5" name="Title 1">
            <a:extLst>
              <a:ext uri="{FF2B5EF4-FFF2-40B4-BE49-F238E27FC236}">
                <a16:creationId xmlns:a16="http://schemas.microsoft.com/office/drawing/2014/main" id="{5038F82F-7674-A892-F955-817697585A8B}"/>
              </a:ext>
            </a:extLst>
          </p:cNvPr>
          <p:cNvSpPr>
            <a:spLocks noGrp="1"/>
          </p:cNvSpPr>
          <p:nvPr>
            <p:ph type="title" hasCustomPrompt="1"/>
          </p:nvPr>
        </p:nvSpPr>
        <p:spPr>
          <a:xfrm>
            <a:off x="460800" y="172800"/>
            <a:ext cx="11258550" cy="827827"/>
          </a:xfrm>
        </p:spPr>
        <p:txBody>
          <a:bodyPr>
            <a:noAutofit/>
          </a:bodyPr>
          <a:lstStyle>
            <a:lvl1pPr>
              <a:defRPr sz="2800" b="1" i="0">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a:t>Slide title / Section name</a:t>
            </a:r>
            <a:endParaRPr lang="en-US" dirty="0"/>
          </a:p>
        </p:txBody>
      </p:sp>
      <p:sp>
        <p:nvSpPr>
          <p:cNvPr id="10" name="Text Placeholder 9">
            <a:extLst>
              <a:ext uri="{FF2B5EF4-FFF2-40B4-BE49-F238E27FC236}">
                <a16:creationId xmlns:a16="http://schemas.microsoft.com/office/drawing/2014/main" id="{79787B56-D088-BF53-D4DB-56B8A0AEDAA9}"/>
              </a:ext>
            </a:extLst>
          </p:cNvPr>
          <p:cNvSpPr>
            <a:spLocks noGrp="1"/>
          </p:cNvSpPr>
          <p:nvPr>
            <p:ph type="body" sz="quarter" idx="10"/>
          </p:nvPr>
        </p:nvSpPr>
        <p:spPr>
          <a:xfrm>
            <a:off x="460800" y="1252800"/>
            <a:ext cx="11258550" cy="4927600"/>
          </a:xfrm>
        </p:spPr>
        <p:txBody>
          <a:bodyPr>
            <a:noAutofit/>
          </a:bodyPr>
          <a:lstStyle>
            <a:lvl1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2pPr>
            <a:lvl3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3pPr>
            <a:lvl4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4pPr>
            <a:lvl5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Tree>
    <p:extLst>
      <p:ext uri="{BB962C8B-B14F-4D97-AF65-F5344CB8AC3E}">
        <p14:creationId xmlns:p14="http://schemas.microsoft.com/office/powerpoint/2010/main" val="115855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08041B"/>
        </a:solidFill>
        <a:effectLst/>
      </p:bgPr>
    </p:bg>
    <p:spTree>
      <p:nvGrpSpPr>
        <p:cNvPr id="1" name=""/>
        <p:cNvGrpSpPr/>
        <p:nvPr/>
      </p:nvGrpSpPr>
      <p:grpSpPr>
        <a:xfrm>
          <a:off x="0" y="0"/>
          <a:ext cx="0" cy="0"/>
          <a:chOff x="0" y="0"/>
          <a:chExt cx="0" cy="0"/>
        </a:xfrm>
      </p:grpSpPr>
      <p:pic>
        <p:nvPicPr>
          <p:cNvPr id="8" name="Google Shape;58;p76">
            <a:extLst>
              <a:ext uri="{FF2B5EF4-FFF2-40B4-BE49-F238E27FC236}">
                <a16:creationId xmlns:a16="http://schemas.microsoft.com/office/drawing/2014/main" id="{E001CE48-199D-56A0-69D1-556D578CE700}"/>
              </a:ext>
            </a:extLst>
          </p:cNvPr>
          <p:cNvPicPr preferRelativeResize="0"/>
          <p:nvPr userDrawn="1"/>
        </p:nvPicPr>
        <p:blipFill rotWithShape="1">
          <a:blip r:embed="rId2">
            <a:alphaModFix/>
          </a:blip>
          <a:srcRect/>
          <a:stretch/>
        </p:blipFill>
        <p:spPr>
          <a:xfrm>
            <a:off x="0" y="0"/>
            <a:ext cx="12191999" cy="6858000"/>
          </a:xfrm>
          <a:prstGeom prst="rect">
            <a:avLst/>
          </a:prstGeom>
          <a:noFill/>
          <a:ln>
            <a:noFill/>
          </a:ln>
        </p:spPr>
      </p:pic>
      <p:sp>
        <p:nvSpPr>
          <p:cNvPr id="9" name="Google Shape;19;p66">
            <a:extLst>
              <a:ext uri="{FF2B5EF4-FFF2-40B4-BE49-F238E27FC236}">
                <a16:creationId xmlns:a16="http://schemas.microsoft.com/office/drawing/2014/main" id="{3F333B57-27F9-22F1-23EA-39219270A4DF}"/>
              </a:ext>
            </a:extLst>
          </p:cNvPr>
          <p:cNvSpPr txBox="1"/>
          <p:nvPr userDrawn="1"/>
        </p:nvSpPr>
        <p:spPr>
          <a:xfrm>
            <a:off x="2164556" y="6315964"/>
            <a:ext cx="2834926" cy="1435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F7F7F"/>
              </a:buClr>
              <a:buSzPts val="1120"/>
              <a:buFont typeface="Arial"/>
              <a:buNone/>
            </a:pPr>
            <a:r>
              <a:rPr lang="en-US" sz="933" b="0" i="0" u="none" strike="noStrike" cap="none" dirty="0">
                <a:solidFill>
                  <a:srgbClr val="7F7F7F"/>
                </a:solidFill>
                <a:latin typeface="+mj-lt"/>
                <a:ea typeface="Arial"/>
                <a:cs typeface="Arial"/>
                <a:sym typeface="Arial"/>
              </a:rPr>
              <a:t>Amazon Web Services, Inc. or its Affiliates. </a:t>
            </a:r>
            <a:endParaRPr sz="1500" dirty="0">
              <a:latin typeface="+mj-lt"/>
            </a:endParaRPr>
          </a:p>
        </p:txBody>
      </p:sp>
      <p:pic>
        <p:nvPicPr>
          <p:cNvPr id="10" name="Picture 9" descr="A black and white sign with white text&#10;&#10;AI-generated content may be incorrect.">
            <a:extLst>
              <a:ext uri="{FF2B5EF4-FFF2-40B4-BE49-F238E27FC236}">
                <a16:creationId xmlns:a16="http://schemas.microsoft.com/office/drawing/2014/main" id="{129093AB-1582-1E20-7653-0463076482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6269029"/>
            <a:ext cx="1555750" cy="381000"/>
          </a:xfrm>
          <a:prstGeom prst="rect">
            <a:avLst/>
          </a:prstGeom>
        </p:spPr>
      </p:pic>
      <p:sp>
        <p:nvSpPr>
          <p:cNvPr id="11" name="Google Shape;59;p76">
            <a:extLst>
              <a:ext uri="{FF2B5EF4-FFF2-40B4-BE49-F238E27FC236}">
                <a16:creationId xmlns:a16="http://schemas.microsoft.com/office/drawing/2014/main" id="{D491E884-C6E6-A451-C0C1-40CE734A4627}"/>
              </a:ext>
            </a:extLst>
          </p:cNvPr>
          <p:cNvSpPr txBox="1">
            <a:spLocks noGrp="1"/>
          </p:cNvSpPr>
          <p:nvPr>
            <p:ph type="title" hasCustomPrompt="1"/>
          </p:nvPr>
        </p:nvSpPr>
        <p:spPr>
          <a:xfrm>
            <a:off x="460800" y="2836800"/>
            <a:ext cx="7819901" cy="838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9600"/>
              <a:buFont typeface="Arial"/>
              <a:buNone/>
              <a:defRPr sz="3800" b="1" cap="none">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Section name</a:t>
            </a:r>
            <a:endParaRPr/>
          </a:p>
        </p:txBody>
      </p:sp>
      <p:sp>
        <p:nvSpPr>
          <p:cNvPr id="12" name="Google Shape;60;p76">
            <a:extLst>
              <a:ext uri="{FF2B5EF4-FFF2-40B4-BE49-F238E27FC236}">
                <a16:creationId xmlns:a16="http://schemas.microsoft.com/office/drawing/2014/main" id="{A15B343D-3356-673C-478B-D285C7C60A9B}"/>
              </a:ext>
            </a:extLst>
          </p:cNvPr>
          <p:cNvSpPr txBox="1">
            <a:spLocks noGrp="1"/>
          </p:cNvSpPr>
          <p:nvPr>
            <p:ph type="body" idx="1"/>
          </p:nvPr>
        </p:nvSpPr>
        <p:spPr>
          <a:xfrm>
            <a:off x="457200" y="3583375"/>
            <a:ext cx="6849533" cy="652565"/>
          </a:xfrm>
          <a:prstGeom prst="rect">
            <a:avLst/>
          </a:prstGeom>
          <a:noFill/>
          <a:ln>
            <a:noFill/>
          </a:ln>
        </p:spPr>
        <p:txBody>
          <a:bodyPr spcFirstLastPara="1" wrap="square" lIns="91425" tIns="45700" rIns="91425" bIns="45700" anchor="t" anchorCtr="0">
            <a:noAutofit/>
          </a:bodyPr>
          <a:lstStyle>
            <a:lvl1pPr marL="380985" lvl="0" indent="-190492" algn="l">
              <a:spcBef>
                <a:spcPts val="483"/>
              </a:spcBef>
              <a:spcAft>
                <a:spcPts val="0"/>
              </a:spcAft>
              <a:buClr>
                <a:schemeClr val="lt1"/>
              </a:buClr>
              <a:buSzPts val="2900"/>
              <a:buFont typeface="Arial"/>
              <a:buNone/>
              <a:defRPr sz="2417">
                <a:solidFill>
                  <a:schemeClr val="bg1"/>
                </a:solidFill>
              </a:defRPr>
            </a:lvl1pPr>
            <a:lvl2pPr marL="761970" lvl="1" indent="-190492" algn="l">
              <a:spcBef>
                <a:spcPts val="483"/>
              </a:spcBef>
              <a:spcAft>
                <a:spcPts val="0"/>
              </a:spcAft>
              <a:buClr>
                <a:schemeClr val="lt1"/>
              </a:buClr>
              <a:buSzPts val="2900"/>
              <a:buNone/>
              <a:defRPr/>
            </a:lvl2pPr>
            <a:lvl3pPr marL="1142954" lvl="2" indent="-285739" algn="l">
              <a:spcBef>
                <a:spcPts val="300"/>
              </a:spcBef>
              <a:spcAft>
                <a:spcPts val="0"/>
              </a:spcAft>
              <a:buClr>
                <a:schemeClr val="lt1"/>
              </a:buClr>
              <a:buSzPts val="1800"/>
              <a:buChar char="•"/>
              <a:defRPr/>
            </a:lvl3pPr>
            <a:lvl4pPr marL="1523939" lvl="3" indent="-285739" algn="l">
              <a:spcBef>
                <a:spcPts val="300"/>
              </a:spcBef>
              <a:spcAft>
                <a:spcPts val="0"/>
              </a:spcAft>
              <a:buClr>
                <a:schemeClr val="lt1"/>
              </a:buClr>
              <a:buSzPts val="1800"/>
              <a:buChar char="–"/>
              <a:defRPr/>
            </a:lvl4pPr>
            <a:lvl5pPr marL="1904924" lvl="4" indent="-285739" algn="l">
              <a:spcBef>
                <a:spcPts val="300"/>
              </a:spcBef>
              <a:spcAft>
                <a:spcPts val="0"/>
              </a:spcAft>
              <a:buClr>
                <a:schemeClr val="lt1"/>
              </a:buClr>
              <a:buSzPts val="1800"/>
              <a:buChar char="»"/>
              <a:defRPr/>
            </a:lvl5pPr>
            <a:lvl6pPr marL="2285909" lvl="5" indent="-285739" algn="l">
              <a:spcBef>
                <a:spcPts val="300"/>
              </a:spcBef>
              <a:spcAft>
                <a:spcPts val="0"/>
              </a:spcAft>
              <a:buClr>
                <a:schemeClr val="lt1"/>
              </a:buClr>
              <a:buSzPts val="1800"/>
              <a:buChar char="•"/>
              <a:defRPr/>
            </a:lvl6pPr>
            <a:lvl7pPr marL="2666893" lvl="6" indent="-285739" algn="l">
              <a:spcBef>
                <a:spcPts val="300"/>
              </a:spcBef>
              <a:spcAft>
                <a:spcPts val="0"/>
              </a:spcAft>
              <a:buClr>
                <a:schemeClr val="lt1"/>
              </a:buClr>
              <a:buSzPts val="1800"/>
              <a:buChar char="•"/>
              <a:defRPr/>
            </a:lvl7pPr>
            <a:lvl8pPr marL="3047878" lvl="7" indent="-285739" algn="l">
              <a:spcBef>
                <a:spcPts val="300"/>
              </a:spcBef>
              <a:spcAft>
                <a:spcPts val="0"/>
              </a:spcAft>
              <a:buClr>
                <a:schemeClr val="lt1"/>
              </a:buClr>
              <a:buSzPts val="1800"/>
              <a:buChar char="•"/>
              <a:defRPr/>
            </a:lvl8pPr>
            <a:lvl9pPr marL="3428863" lvl="8" indent="-285739" algn="l">
              <a:spcBef>
                <a:spcPts val="300"/>
              </a:spcBef>
              <a:spcAft>
                <a:spcPts val="0"/>
              </a:spcAft>
              <a:buClr>
                <a:schemeClr val="lt1"/>
              </a:buClr>
              <a:buSzPts val="1800"/>
              <a:buChar char="•"/>
              <a:defRPr/>
            </a:lvl9pPr>
          </a:lstStyle>
          <a:p>
            <a:endParaRPr/>
          </a:p>
        </p:txBody>
      </p:sp>
    </p:spTree>
    <p:extLst>
      <p:ext uri="{BB962C8B-B14F-4D97-AF65-F5344CB8AC3E}">
        <p14:creationId xmlns:p14="http://schemas.microsoft.com/office/powerpoint/2010/main" val="14890791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5C3174-11D6-305C-16B3-9FE6251FE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58AAF2E4-A524-E5CC-E6BF-2494A73A84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77724A8B-4B1C-CF7F-DACB-BCF8E9A612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9409C2-61C9-8D49-96BE-171968F58CAA}" type="datetimeFigureOut">
              <a:t>16/03/2026</a:t>
            </a:fld>
            <a:endParaRPr lang="en-VN"/>
          </a:p>
        </p:txBody>
      </p:sp>
      <p:sp>
        <p:nvSpPr>
          <p:cNvPr id="5" name="Footer Placeholder 4">
            <a:extLst>
              <a:ext uri="{FF2B5EF4-FFF2-40B4-BE49-F238E27FC236}">
                <a16:creationId xmlns:a16="http://schemas.microsoft.com/office/drawing/2014/main" id="{FF550F0A-28EC-1CFD-3A4A-EE4CC5954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A23D96A7-3B40-4EA5-804B-6583774AE9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6A5951-7675-3946-A94E-47A019A45A31}" type="slidenum">
              <a:t>‹#›</a:t>
            </a:fld>
            <a:endParaRPr lang="en-VN"/>
          </a:p>
        </p:txBody>
      </p:sp>
    </p:spTree>
    <p:extLst>
      <p:ext uri="{BB962C8B-B14F-4D97-AF65-F5344CB8AC3E}">
        <p14:creationId xmlns:p14="http://schemas.microsoft.com/office/powerpoint/2010/main" val="3567569762"/>
      </p:ext>
    </p:extLst>
  </p:cSld>
  <p:clrMap bg1="lt1" tx1="dk1" bg2="lt2" tx2="dk2" accent1="accent1" accent2="accent2" accent3="accent3" accent4="accent4" accent5="accent5" accent6="accent6" hlink="hlink" folHlink="folHlink"/>
  <p:sldLayoutIdLst>
    <p:sldLayoutId id="2147483666" r:id="rId1"/>
    <p:sldLayoutId id="2147483668" r:id="rId2"/>
    <p:sldLayoutId id="214748366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457200" y="4169663"/>
            <a:ext cx="6309360" cy="411480"/>
          </a:xfrm>
        </p:spPr>
        <p:txBody>
          <a:bodyPr wrap="square"/>
          <a:lstStyle/>
          <a:p>
            <a:pPr algn="l" marL="0" indent="0">
              <a:buNone/>
            </a:pPr>
            <a:r>
              <a:rPr sz="2400" b="1" lang="vi-VN">
                <a:solidFill>
                  <a:srgbClr val="FFFFFF"/>
                </a:solidFill>
                <a:latin typeface="Arial"/>
              </a:rPr>
              <a:t>Nguyễn Đức Toàn</a:t>
            </a:r>
          </a:p>
        </p:txBody>
      </p:sp>
      <p:sp>
        <p:nvSpPr>
          <p:cNvPr id="3" name="Text Placeholder 2"/>
          <p:cNvSpPr>
            <a:spLocks noGrp="1"/>
          </p:cNvSpPr>
          <p:nvPr>
            <p:ph type="body" idx="14" sz="quarter"/>
          </p:nvPr>
        </p:nvSpPr>
        <p:spPr>
          <a:xfrm>
            <a:off x="457200" y="4535424"/>
            <a:ext cx="6309360" cy="365760"/>
          </a:xfrm>
        </p:spPr>
        <p:txBody>
          <a:bodyPr wrap="square"/>
          <a:lstStyle/>
          <a:p>
            <a:pPr algn="l" marL="0" indent="0">
              <a:buNone/>
            </a:pPr>
            <a:r>
              <a:rPr sz="2000" b="0" lang="vi-VN">
                <a:solidFill>
                  <a:srgbClr val="E6E4F5"/>
                </a:solidFill>
                <a:latin typeface="Arial"/>
              </a:rPr>
              <a:t>Technical Cloud Engineer, Keyloop</a:t>
            </a:r>
          </a:p>
        </p:txBody>
      </p:sp>
      <p:sp>
        <p:nvSpPr>
          <p:cNvPr id="4" name="Text Placeholder 3"/>
          <p:cNvSpPr>
            <a:spLocks noGrp="1"/>
          </p:cNvSpPr>
          <p:nvPr>
            <p:ph type="body" idx="15" sz="quarter"/>
          </p:nvPr>
        </p:nvSpPr>
        <p:spPr>
          <a:xfrm>
            <a:off x="457200" y="1554480"/>
            <a:ext cx="6309360" cy="1463040"/>
          </a:xfrm>
        </p:spPr>
        <p:txBody>
          <a:bodyPr wrap="square" anchor="b"/>
          <a:lstStyle/>
          <a:p>
            <a:pPr algn="l" marL="0" indent="0">
              <a:buNone/>
            </a:pPr>
            <a:r>
              <a:rPr sz="3600" b="1" lang="vi-VN">
                <a:solidFill>
                  <a:srgbClr val="FFFFFF"/>
                </a:solidFill>
                <a:latin typeface="Arial"/>
              </a:rPr>
              <a:t>Spot + Karpenter:</a:t>
            </a:r>
          </a:p>
          <a:p>
            <a:pPr algn="l" marL="0" indent="0">
              <a:buNone/>
            </a:pPr>
            <a:r>
              <a:rPr sz="3600" b="1" lang="vi-VN">
                <a:solidFill>
                  <a:srgbClr val="FFFFFF"/>
                </a:solidFill>
                <a:latin typeface="Arial"/>
              </a:rPr>
              <a:t>Uptime cao, chi phí thấp</a:t>
            </a:r>
          </a:p>
        </p:txBody>
      </p:sp>
      <p:sp>
        <p:nvSpPr>
          <p:cNvPr id="5" name="Text Placeholder 4"/>
          <p:cNvSpPr>
            <a:spLocks noGrp="1"/>
          </p:cNvSpPr>
          <p:nvPr>
            <p:ph type="body" idx="16" sz="quarter"/>
          </p:nvPr>
        </p:nvSpPr>
        <p:spPr>
          <a:xfrm>
            <a:off x="457200" y="3154680"/>
            <a:ext cx="6309360" cy="457200"/>
          </a:xfrm>
        </p:spPr>
        <p:txBody>
          <a:bodyPr wrap="square"/>
          <a:lstStyle/>
          <a:p>
            <a:pPr algn="l" marL="0" indent="0">
              <a:buNone/>
            </a:pPr>
            <a:r>
              <a:rPr sz="2200" b="0" lang="vi-VN">
                <a:solidFill>
                  <a:srgbClr val="FCA019"/>
                </a:solidFill>
                <a:latin typeface="Arial"/>
              </a:rPr>
              <a:t>Talk 15 phút về FinOps trên 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Vì sao phải quan tâm chi phí cloud?</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Hôm nay: trả lời một câu hỏi trong 15 phút.</a:t>
            </a:r>
          </a:p>
        </p:txBody>
      </p:sp>
      <p:sp>
        <p:nvSpPr>
          <p:cNvPr id="4" name="s02-bignumber"/>
          <p:cNvSpPr/>
          <p:nvPr/>
        </p:nvSpPr>
        <p:spPr>
          <a:xfrm>
            <a:off x="457200" y="1737360"/>
            <a:ext cx="4206240" cy="2834640"/>
          </a:xfrm>
          <a:prstGeom prst="roundRect">
            <a:avLst>
              <a:gd name="adj" fmla="val 8000"/>
            </a:avLst>
          </a:prstGeom>
          <a:solidFill>
            <a:srgbClr val="17132E"/>
          </a:solidFill>
          <a:ln w="19050">
            <a:solidFill>
              <a:srgbClr val="FCA019"/>
            </a:solidFill>
          </a:ln>
        </p:spPr>
        <p:txBody>
          <a:bodyPr rtlCol="0" anchor="ctr" wrap="square"/>
          <a:lstStyle/>
          <a:p>
            <a:pPr algn="ctr"/>
            <a:r>
              <a:rPr sz="6400" b="1" lang="vi-VN">
                <a:solidFill>
                  <a:srgbClr val="FCA019"/>
                </a:solidFill>
                <a:latin typeface="Arial"/>
              </a:rPr>
              <a:t>FinOps</a:t>
            </a:r>
          </a:p>
          <a:p>
            <a:pPr algn="ctr"/>
            <a:r>
              <a:rPr sz="2000" b="0" lang="vi-VN">
                <a:solidFill>
                  <a:srgbClr val="FFFFFF"/>
                </a:solidFill>
                <a:latin typeface="Arial"/>
              </a:rPr>
              <a:t>hóa đơn cloud tăng rất nhanh nếu không ai đo</a:t>
            </a:r>
          </a:p>
        </p:txBody>
      </p:sp>
      <p:sp>
        <p:nvSpPr>
          <p:cNvPr id="5" name="s02-question"/>
          <p:cNvSpPr/>
          <p:nvPr/>
        </p:nvSpPr>
        <p:spPr>
          <a:xfrm>
            <a:off x="4937760" y="1737360"/>
            <a:ext cx="6766560" cy="2834640"/>
          </a:xfrm>
          <a:prstGeom prst="roundRect">
            <a:avLst>
              <a:gd name="adj" fmla="val 8000"/>
            </a:avLst>
          </a:prstGeom>
          <a:solidFill>
            <a:srgbClr val="17132E"/>
          </a:solidFill>
          <a:ln w="19050">
            <a:solidFill>
              <a:srgbClr val="4B4678"/>
            </a:solidFill>
          </a:ln>
        </p:spPr>
        <p:txBody>
          <a:bodyPr rtlCol="0" anchor="ctr" wrap="square"/>
          <a:lstStyle/>
          <a:p>
            <a:pPr algn="ctr"/>
            <a:r>
              <a:rPr sz="4000" b="1" lang="vi-VN">
                <a:solidFill>
                  <a:srgbClr val="FFFFFF"/>
                </a:solidFill>
                <a:latin typeface="Arial"/>
              </a:rPr>
              <a:t>~100% uptime</a:t>
            </a:r>
          </a:p>
          <a:p>
            <a:pPr algn="ctr"/>
            <a:r>
              <a:rPr sz="4000" b="1" lang="vi-VN">
                <a:solidFill>
                  <a:srgbClr val="FFFFFF"/>
                </a:solidFill>
                <a:latin typeface="Arial"/>
              </a:rPr>
              <a:t>mà không đốt tiền?</a:t>
            </a:r>
          </a:p>
        </p:txBody>
      </p:sp>
      <p:sp>
        <p:nvSpPr>
          <p:cNvPr id="6" name="s02-chip-1"/>
          <p:cNvSpPr/>
          <p:nvPr/>
        </p:nvSpPr>
        <p:spPr>
          <a:xfrm>
            <a:off x="457200" y="4800600"/>
            <a:ext cx="2697480" cy="685800"/>
          </a:xfrm>
          <a:prstGeom prst="roundRect">
            <a:avLst>
              <a:gd name="adj" fmla="val 8000"/>
            </a:avLst>
          </a:prstGeom>
          <a:solidFill>
            <a:srgbClr val="4EA72E"/>
          </a:solidFill>
          <a:ln>
            <a:noFill/>
          </a:ln>
        </p:spPr>
        <p:txBody>
          <a:bodyPr rtlCol="0" anchor="ctr" wrap="square"/>
          <a:lstStyle/>
          <a:p>
            <a:pPr algn="ctr"/>
            <a:r>
              <a:rPr sz="2000" b="1" lang="vi-VN">
                <a:solidFill>
                  <a:srgbClr val="08041B"/>
                </a:solidFill>
                <a:latin typeface="Arial"/>
              </a:rPr>
              <a:t>1  Spot</a:t>
            </a:r>
          </a:p>
        </p:txBody>
      </p:sp>
      <p:sp>
        <p:nvSpPr>
          <p:cNvPr id="7" name="s02-chip-2"/>
          <p:cNvSpPr/>
          <p:nvPr/>
        </p:nvSpPr>
        <p:spPr>
          <a:xfrm>
            <a:off x="3291840" y="4800600"/>
            <a:ext cx="2697480" cy="685800"/>
          </a:xfrm>
          <a:prstGeom prst="roundRect">
            <a:avLst>
              <a:gd name="adj" fmla="val 8000"/>
            </a:avLst>
          </a:prstGeom>
          <a:solidFill>
            <a:srgbClr val="0F9ED5"/>
          </a:solidFill>
          <a:ln>
            <a:noFill/>
          </a:ln>
        </p:spPr>
        <p:txBody>
          <a:bodyPr rtlCol="0" anchor="ctr" wrap="square"/>
          <a:lstStyle/>
          <a:p>
            <a:pPr algn="ctr"/>
            <a:r>
              <a:rPr sz="2000" b="1" lang="vi-VN">
                <a:solidFill>
                  <a:srgbClr val="08041B"/>
                </a:solidFill>
                <a:latin typeface="Arial"/>
              </a:rPr>
              <a:t>2  Thêm node</a:t>
            </a:r>
          </a:p>
        </p:txBody>
      </p:sp>
      <p:sp>
        <p:nvSpPr>
          <p:cNvPr id="8" name="s02-chip-3"/>
          <p:cNvSpPr/>
          <p:nvPr/>
        </p:nvSpPr>
        <p:spPr>
          <a:xfrm>
            <a:off x="6126480" y="4800600"/>
            <a:ext cx="2697480" cy="68580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3  Demo đo đạc</a:t>
            </a:r>
          </a:p>
        </p:txBody>
      </p:sp>
      <p:sp>
        <p:nvSpPr>
          <p:cNvPr id="9" name="s02-chip-4"/>
          <p:cNvSpPr/>
          <p:nvPr/>
        </p:nvSpPr>
        <p:spPr>
          <a:xfrm>
            <a:off x="8961120" y="4800600"/>
            <a:ext cx="2697480" cy="685800"/>
          </a:xfrm>
          <a:prstGeom prst="roundRect">
            <a:avLst>
              <a:gd name="adj" fmla="val 8000"/>
            </a:avLst>
          </a:prstGeom>
          <a:solidFill>
            <a:srgbClr val="E97132"/>
          </a:solidFill>
          <a:ln>
            <a:noFill/>
          </a:ln>
        </p:spPr>
        <p:txBody>
          <a:bodyPr rtlCol="0" anchor="ctr" wrap="square"/>
          <a:lstStyle/>
          <a:p>
            <a:pPr algn="ctr"/>
            <a:r>
              <a:rPr sz="2000" b="1" lang="vi-VN">
                <a:solidFill>
                  <a:srgbClr val="08041B"/>
                </a:solidFill>
                <a:latin typeface="Arial"/>
              </a:rPr>
              <a:t>4  Cái bẫy</a:t>
            </a:r>
          </a:p>
        </p:txBody>
      </p:sp>
      <p:sp>
        <p:nvSpPr>
          <p:cNvPr id="10" name="s02-footnote"/>
          <p:cNvSpPr/>
          <p:nvPr/>
        </p:nvSpPr>
        <p:spPr>
          <a:xfrm>
            <a:off x="457200" y="5623560"/>
            <a:ext cx="11247120" cy="365760"/>
          </a:xfrm>
          <a:prstGeom prst="rect">
            <a:avLst/>
          </a:prstGeom>
          <a:noFill/>
          <a:ln>
            <a:noFill/>
          </a:ln>
        </p:spPr>
        <p:txBody>
          <a:bodyPr rtlCol="0" anchor="ctr" wrap="square"/>
          <a:lstStyle/>
          <a:p>
            <a:pPr algn="l"/>
            <a:r>
              <a:rPr sz="1200" b="0" lang="vi-VN">
                <a:solidFill>
                  <a:srgbClr val="E6E4F5"/>
                </a:solidFill>
                <a:latin typeface="Arial"/>
              </a:rPr>
              <a:t>Nguồn: khái niệm FinOps, finops.org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Spot Instance trong một bức tranh</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Spot = phần dung lượng dư của AWS, bán giảm giá.</a:t>
            </a:r>
          </a:p>
        </p:txBody>
      </p:sp>
      <p:sp>
        <p:nvSpPr>
          <p:cNvPr id="4" name="s03-cell-001"/>
          <p:cNvSpPr/>
          <p:nvPr/>
        </p:nvSpPr>
        <p:spPr>
          <a:xfrm>
            <a:off x="457200" y="1737360"/>
            <a:ext cx="201168" cy="201168"/>
          </a:xfrm>
          <a:prstGeom prst="rect">
            <a:avLst/>
          </a:prstGeom>
          <a:solidFill>
            <a:srgbClr val="0F9ED5"/>
          </a:solidFill>
          <a:ln>
            <a:noFill/>
          </a:ln>
        </p:spPr>
        <p:txBody>
          <a:bodyPr rtlCol="0" anchor="ctr"/>
          <a:lstStyle/>
          <a:p>
            <a:pPr algn="ctr"/>
          </a:p>
        </p:txBody>
      </p:sp>
      <p:sp>
        <p:nvSpPr>
          <p:cNvPr id="5" name="s03-cell-002"/>
          <p:cNvSpPr/>
          <p:nvPr/>
        </p:nvSpPr>
        <p:spPr>
          <a:xfrm>
            <a:off x="694944" y="1737360"/>
            <a:ext cx="201168" cy="201168"/>
          </a:xfrm>
          <a:prstGeom prst="rect">
            <a:avLst/>
          </a:prstGeom>
          <a:solidFill>
            <a:srgbClr val="0F9ED5"/>
          </a:solidFill>
          <a:ln>
            <a:noFill/>
          </a:ln>
        </p:spPr>
        <p:txBody>
          <a:bodyPr rtlCol="0" anchor="ctr"/>
          <a:lstStyle/>
          <a:p>
            <a:pPr algn="ctr"/>
          </a:p>
        </p:txBody>
      </p:sp>
      <p:sp>
        <p:nvSpPr>
          <p:cNvPr id="6" name="s03-cell-003"/>
          <p:cNvSpPr/>
          <p:nvPr/>
        </p:nvSpPr>
        <p:spPr>
          <a:xfrm>
            <a:off x="932688" y="1737360"/>
            <a:ext cx="201168" cy="201168"/>
          </a:xfrm>
          <a:prstGeom prst="rect">
            <a:avLst/>
          </a:prstGeom>
          <a:solidFill>
            <a:srgbClr val="0F9ED5"/>
          </a:solidFill>
          <a:ln>
            <a:noFill/>
          </a:ln>
        </p:spPr>
        <p:txBody>
          <a:bodyPr rtlCol="0" anchor="ctr"/>
          <a:lstStyle/>
          <a:p>
            <a:pPr algn="ctr"/>
          </a:p>
        </p:txBody>
      </p:sp>
      <p:sp>
        <p:nvSpPr>
          <p:cNvPr id="7" name="s03-cell-004"/>
          <p:cNvSpPr/>
          <p:nvPr/>
        </p:nvSpPr>
        <p:spPr>
          <a:xfrm>
            <a:off x="1170432" y="1737360"/>
            <a:ext cx="201168" cy="201168"/>
          </a:xfrm>
          <a:prstGeom prst="rect">
            <a:avLst/>
          </a:prstGeom>
          <a:solidFill>
            <a:srgbClr val="0F9ED5"/>
          </a:solidFill>
          <a:ln>
            <a:noFill/>
          </a:ln>
        </p:spPr>
        <p:txBody>
          <a:bodyPr rtlCol="0" anchor="ctr"/>
          <a:lstStyle/>
          <a:p>
            <a:pPr algn="ctr"/>
          </a:p>
        </p:txBody>
      </p:sp>
      <p:sp>
        <p:nvSpPr>
          <p:cNvPr id="8" name="s03-cell-005"/>
          <p:cNvSpPr/>
          <p:nvPr/>
        </p:nvSpPr>
        <p:spPr>
          <a:xfrm>
            <a:off x="1408176" y="1737360"/>
            <a:ext cx="201168" cy="201168"/>
          </a:xfrm>
          <a:prstGeom prst="rect">
            <a:avLst/>
          </a:prstGeom>
          <a:solidFill>
            <a:srgbClr val="0F9ED5"/>
          </a:solidFill>
          <a:ln>
            <a:noFill/>
          </a:ln>
        </p:spPr>
        <p:txBody>
          <a:bodyPr rtlCol="0" anchor="ctr"/>
          <a:lstStyle/>
          <a:p>
            <a:pPr algn="ctr"/>
          </a:p>
        </p:txBody>
      </p:sp>
      <p:sp>
        <p:nvSpPr>
          <p:cNvPr id="9" name="s03-cell-006"/>
          <p:cNvSpPr/>
          <p:nvPr/>
        </p:nvSpPr>
        <p:spPr>
          <a:xfrm>
            <a:off x="1645920" y="1737360"/>
            <a:ext cx="201168" cy="201168"/>
          </a:xfrm>
          <a:prstGeom prst="rect">
            <a:avLst/>
          </a:prstGeom>
          <a:solidFill>
            <a:srgbClr val="0F9ED5"/>
          </a:solidFill>
          <a:ln>
            <a:noFill/>
          </a:ln>
        </p:spPr>
        <p:txBody>
          <a:bodyPr rtlCol="0" anchor="ctr"/>
          <a:lstStyle/>
          <a:p>
            <a:pPr algn="ctr"/>
          </a:p>
        </p:txBody>
      </p:sp>
      <p:sp>
        <p:nvSpPr>
          <p:cNvPr id="10" name="s03-cell-007"/>
          <p:cNvSpPr/>
          <p:nvPr/>
        </p:nvSpPr>
        <p:spPr>
          <a:xfrm>
            <a:off x="1883664" y="1737360"/>
            <a:ext cx="201168" cy="201168"/>
          </a:xfrm>
          <a:prstGeom prst="rect">
            <a:avLst/>
          </a:prstGeom>
          <a:solidFill>
            <a:srgbClr val="0F9ED5"/>
          </a:solidFill>
          <a:ln>
            <a:noFill/>
          </a:ln>
        </p:spPr>
        <p:txBody>
          <a:bodyPr rtlCol="0" anchor="ctr"/>
          <a:lstStyle/>
          <a:p>
            <a:pPr algn="ctr"/>
          </a:p>
        </p:txBody>
      </p:sp>
      <p:sp>
        <p:nvSpPr>
          <p:cNvPr id="11" name="s03-cell-008"/>
          <p:cNvSpPr/>
          <p:nvPr/>
        </p:nvSpPr>
        <p:spPr>
          <a:xfrm>
            <a:off x="2121408" y="1737360"/>
            <a:ext cx="201168" cy="201168"/>
          </a:xfrm>
          <a:prstGeom prst="rect">
            <a:avLst/>
          </a:prstGeom>
          <a:solidFill>
            <a:srgbClr val="0F9ED5"/>
          </a:solidFill>
          <a:ln>
            <a:noFill/>
          </a:ln>
        </p:spPr>
        <p:txBody>
          <a:bodyPr rtlCol="0" anchor="ctr"/>
          <a:lstStyle/>
          <a:p>
            <a:pPr algn="ctr"/>
          </a:p>
        </p:txBody>
      </p:sp>
      <p:sp>
        <p:nvSpPr>
          <p:cNvPr id="12" name="s03-cell-009"/>
          <p:cNvSpPr/>
          <p:nvPr/>
        </p:nvSpPr>
        <p:spPr>
          <a:xfrm>
            <a:off x="2359152" y="1737360"/>
            <a:ext cx="201168" cy="201168"/>
          </a:xfrm>
          <a:prstGeom prst="rect">
            <a:avLst/>
          </a:prstGeom>
          <a:solidFill>
            <a:srgbClr val="0F9ED5"/>
          </a:solidFill>
          <a:ln>
            <a:noFill/>
          </a:ln>
        </p:spPr>
        <p:txBody>
          <a:bodyPr rtlCol="0" anchor="ctr"/>
          <a:lstStyle/>
          <a:p>
            <a:pPr algn="ctr"/>
          </a:p>
        </p:txBody>
      </p:sp>
      <p:sp>
        <p:nvSpPr>
          <p:cNvPr id="13" name="s03-cell-010"/>
          <p:cNvSpPr/>
          <p:nvPr/>
        </p:nvSpPr>
        <p:spPr>
          <a:xfrm>
            <a:off x="2596896" y="1737360"/>
            <a:ext cx="201168" cy="201168"/>
          </a:xfrm>
          <a:prstGeom prst="rect">
            <a:avLst/>
          </a:prstGeom>
          <a:solidFill>
            <a:srgbClr val="0F9ED5"/>
          </a:solidFill>
          <a:ln>
            <a:noFill/>
          </a:ln>
        </p:spPr>
        <p:txBody>
          <a:bodyPr rtlCol="0" anchor="ctr"/>
          <a:lstStyle/>
          <a:p>
            <a:pPr algn="ctr"/>
          </a:p>
        </p:txBody>
      </p:sp>
      <p:sp>
        <p:nvSpPr>
          <p:cNvPr id="14" name="s03-cell-011"/>
          <p:cNvSpPr/>
          <p:nvPr/>
        </p:nvSpPr>
        <p:spPr>
          <a:xfrm>
            <a:off x="457200" y="1975104"/>
            <a:ext cx="201168" cy="201168"/>
          </a:xfrm>
          <a:prstGeom prst="rect">
            <a:avLst/>
          </a:prstGeom>
          <a:solidFill>
            <a:srgbClr val="0F9ED5"/>
          </a:solidFill>
          <a:ln>
            <a:noFill/>
          </a:ln>
        </p:spPr>
        <p:txBody>
          <a:bodyPr rtlCol="0" anchor="ctr"/>
          <a:lstStyle/>
          <a:p>
            <a:pPr algn="ctr"/>
          </a:p>
        </p:txBody>
      </p:sp>
      <p:sp>
        <p:nvSpPr>
          <p:cNvPr id="15" name="s03-cell-012"/>
          <p:cNvSpPr/>
          <p:nvPr/>
        </p:nvSpPr>
        <p:spPr>
          <a:xfrm>
            <a:off x="694944" y="1975104"/>
            <a:ext cx="201168" cy="201168"/>
          </a:xfrm>
          <a:prstGeom prst="rect">
            <a:avLst/>
          </a:prstGeom>
          <a:solidFill>
            <a:srgbClr val="0F9ED5"/>
          </a:solidFill>
          <a:ln>
            <a:noFill/>
          </a:ln>
        </p:spPr>
        <p:txBody>
          <a:bodyPr rtlCol="0" anchor="ctr"/>
          <a:lstStyle/>
          <a:p>
            <a:pPr algn="ctr"/>
          </a:p>
        </p:txBody>
      </p:sp>
      <p:sp>
        <p:nvSpPr>
          <p:cNvPr id="16" name="s03-cell-013"/>
          <p:cNvSpPr/>
          <p:nvPr/>
        </p:nvSpPr>
        <p:spPr>
          <a:xfrm>
            <a:off x="932688" y="1975104"/>
            <a:ext cx="201168" cy="201168"/>
          </a:xfrm>
          <a:prstGeom prst="rect">
            <a:avLst/>
          </a:prstGeom>
          <a:solidFill>
            <a:srgbClr val="0F9ED5"/>
          </a:solidFill>
          <a:ln>
            <a:noFill/>
          </a:ln>
        </p:spPr>
        <p:txBody>
          <a:bodyPr rtlCol="0" anchor="ctr"/>
          <a:lstStyle/>
          <a:p>
            <a:pPr algn="ctr"/>
          </a:p>
        </p:txBody>
      </p:sp>
      <p:sp>
        <p:nvSpPr>
          <p:cNvPr id="17" name="s03-cell-014"/>
          <p:cNvSpPr/>
          <p:nvPr/>
        </p:nvSpPr>
        <p:spPr>
          <a:xfrm>
            <a:off x="1170432" y="1975104"/>
            <a:ext cx="201168" cy="201168"/>
          </a:xfrm>
          <a:prstGeom prst="rect">
            <a:avLst/>
          </a:prstGeom>
          <a:solidFill>
            <a:srgbClr val="0F9ED5"/>
          </a:solidFill>
          <a:ln>
            <a:noFill/>
          </a:ln>
        </p:spPr>
        <p:txBody>
          <a:bodyPr rtlCol="0" anchor="ctr"/>
          <a:lstStyle/>
          <a:p>
            <a:pPr algn="ctr"/>
          </a:p>
        </p:txBody>
      </p:sp>
      <p:sp>
        <p:nvSpPr>
          <p:cNvPr id="18" name="s03-cell-015"/>
          <p:cNvSpPr/>
          <p:nvPr/>
        </p:nvSpPr>
        <p:spPr>
          <a:xfrm>
            <a:off x="1408176" y="1975104"/>
            <a:ext cx="201168" cy="201168"/>
          </a:xfrm>
          <a:prstGeom prst="rect">
            <a:avLst/>
          </a:prstGeom>
          <a:solidFill>
            <a:srgbClr val="0F9ED5"/>
          </a:solidFill>
          <a:ln>
            <a:noFill/>
          </a:ln>
        </p:spPr>
        <p:txBody>
          <a:bodyPr rtlCol="0" anchor="ctr"/>
          <a:lstStyle/>
          <a:p>
            <a:pPr algn="ctr"/>
          </a:p>
        </p:txBody>
      </p:sp>
      <p:sp>
        <p:nvSpPr>
          <p:cNvPr id="19" name="s03-cell-016"/>
          <p:cNvSpPr/>
          <p:nvPr/>
        </p:nvSpPr>
        <p:spPr>
          <a:xfrm>
            <a:off x="1645920" y="1975104"/>
            <a:ext cx="201168" cy="201168"/>
          </a:xfrm>
          <a:prstGeom prst="rect">
            <a:avLst/>
          </a:prstGeom>
          <a:solidFill>
            <a:srgbClr val="0F9ED5"/>
          </a:solidFill>
          <a:ln>
            <a:noFill/>
          </a:ln>
        </p:spPr>
        <p:txBody>
          <a:bodyPr rtlCol="0" anchor="ctr"/>
          <a:lstStyle/>
          <a:p>
            <a:pPr algn="ctr"/>
          </a:p>
        </p:txBody>
      </p:sp>
      <p:sp>
        <p:nvSpPr>
          <p:cNvPr id="20" name="s03-cell-017"/>
          <p:cNvSpPr/>
          <p:nvPr/>
        </p:nvSpPr>
        <p:spPr>
          <a:xfrm>
            <a:off x="1883664" y="1975104"/>
            <a:ext cx="201168" cy="201168"/>
          </a:xfrm>
          <a:prstGeom prst="rect">
            <a:avLst/>
          </a:prstGeom>
          <a:solidFill>
            <a:srgbClr val="0F9ED5"/>
          </a:solidFill>
          <a:ln>
            <a:noFill/>
          </a:ln>
        </p:spPr>
        <p:txBody>
          <a:bodyPr rtlCol="0" anchor="ctr"/>
          <a:lstStyle/>
          <a:p>
            <a:pPr algn="ctr"/>
          </a:p>
        </p:txBody>
      </p:sp>
      <p:sp>
        <p:nvSpPr>
          <p:cNvPr id="21" name="s03-cell-018"/>
          <p:cNvSpPr/>
          <p:nvPr/>
        </p:nvSpPr>
        <p:spPr>
          <a:xfrm>
            <a:off x="2121408" y="1975104"/>
            <a:ext cx="201168" cy="201168"/>
          </a:xfrm>
          <a:prstGeom prst="rect">
            <a:avLst/>
          </a:prstGeom>
          <a:solidFill>
            <a:srgbClr val="0F9ED5"/>
          </a:solidFill>
          <a:ln>
            <a:noFill/>
          </a:ln>
        </p:spPr>
        <p:txBody>
          <a:bodyPr rtlCol="0" anchor="ctr"/>
          <a:lstStyle/>
          <a:p>
            <a:pPr algn="ctr"/>
          </a:p>
        </p:txBody>
      </p:sp>
      <p:sp>
        <p:nvSpPr>
          <p:cNvPr id="22" name="s03-cell-019"/>
          <p:cNvSpPr/>
          <p:nvPr/>
        </p:nvSpPr>
        <p:spPr>
          <a:xfrm>
            <a:off x="2359152" y="1975104"/>
            <a:ext cx="201168" cy="201168"/>
          </a:xfrm>
          <a:prstGeom prst="rect">
            <a:avLst/>
          </a:prstGeom>
          <a:solidFill>
            <a:srgbClr val="0F9ED5"/>
          </a:solidFill>
          <a:ln>
            <a:noFill/>
          </a:ln>
        </p:spPr>
        <p:txBody>
          <a:bodyPr rtlCol="0" anchor="ctr"/>
          <a:lstStyle/>
          <a:p>
            <a:pPr algn="ctr"/>
          </a:p>
        </p:txBody>
      </p:sp>
      <p:sp>
        <p:nvSpPr>
          <p:cNvPr id="23" name="s03-cell-020"/>
          <p:cNvSpPr/>
          <p:nvPr/>
        </p:nvSpPr>
        <p:spPr>
          <a:xfrm>
            <a:off x="2596896" y="1975104"/>
            <a:ext cx="201168" cy="201168"/>
          </a:xfrm>
          <a:prstGeom prst="rect">
            <a:avLst/>
          </a:prstGeom>
          <a:solidFill>
            <a:srgbClr val="0F9ED5"/>
          </a:solidFill>
          <a:ln>
            <a:noFill/>
          </a:ln>
        </p:spPr>
        <p:txBody>
          <a:bodyPr rtlCol="0" anchor="ctr"/>
          <a:lstStyle/>
          <a:p>
            <a:pPr algn="ctr"/>
          </a:p>
        </p:txBody>
      </p:sp>
      <p:sp>
        <p:nvSpPr>
          <p:cNvPr id="24" name="s03-cell-021"/>
          <p:cNvSpPr/>
          <p:nvPr/>
        </p:nvSpPr>
        <p:spPr>
          <a:xfrm>
            <a:off x="457200" y="2212848"/>
            <a:ext cx="201168" cy="201168"/>
          </a:xfrm>
          <a:prstGeom prst="rect">
            <a:avLst/>
          </a:prstGeom>
          <a:solidFill>
            <a:srgbClr val="0F9ED5"/>
          </a:solidFill>
          <a:ln>
            <a:noFill/>
          </a:ln>
        </p:spPr>
        <p:txBody>
          <a:bodyPr rtlCol="0" anchor="ctr"/>
          <a:lstStyle/>
          <a:p>
            <a:pPr algn="ctr"/>
          </a:p>
        </p:txBody>
      </p:sp>
      <p:sp>
        <p:nvSpPr>
          <p:cNvPr id="25" name="s03-cell-022"/>
          <p:cNvSpPr/>
          <p:nvPr/>
        </p:nvSpPr>
        <p:spPr>
          <a:xfrm>
            <a:off x="694944" y="2212848"/>
            <a:ext cx="201168" cy="201168"/>
          </a:xfrm>
          <a:prstGeom prst="rect">
            <a:avLst/>
          </a:prstGeom>
          <a:solidFill>
            <a:srgbClr val="0F9ED5"/>
          </a:solidFill>
          <a:ln>
            <a:noFill/>
          </a:ln>
        </p:spPr>
        <p:txBody>
          <a:bodyPr rtlCol="0" anchor="ctr"/>
          <a:lstStyle/>
          <a:p>
            <a:pPr algn="ctr"/>
          </a:p>
        </p:txBody>
      </p:sp>
      <p:sp>
        <p:nvSpPr>
          <p:cNvPr id="26" name="s03-cell-023"/>
          <p:cNvSpPr/>
          <p:nvPr/>
        </p:nvSpPr>
        <p:spPr>
          <a:xfrm>
            <a:off x="932688" y="2212848"/>
            <a:ext cx="201168" cy="201168"/>
          </a:xfrm>
          <a:prstGeom prst="rect">
            <a:avLst/>
          </a:prstGeom>
          <a:solidFill>
            <a:srgbClr val="0F9ED5"/>
          </a:solidFill>
          <a:ln>
            <a:noFill/>
          </a:ln>
        </p:spPr>
        <p:txBody>
          <a:bodyPr rtlCol="0" anchor="ctr"/>
          <a:lstStyle/>
          <a:p>
            <a:pPr algn="ctr"/>
          </a:p>
        </p:txBody>
      </p:sp>
      <p:sp>
        <p:nvSpPr>
          <p:cNvPr id="27" name="s03-cell-024"/>
          <p:cNvSpPr/>
          <p:nvPr/>
        </p:nvSpPr>
        <p:spPr>
          <a:xfrm>
            <a:off x="1170432" y="2212848"/>
            <a:ext cx="201168" cy="201168"/>
          </a:xfrm>
          <a:prstGeom prst="rect">
            <a:avLst/>
          </a:prstGeom>
          <a:solidFill>
            <a:srgbClr val="0F9ED5"/>
          </a:solidFill>
          <a:ln>
            <a:noFill/>
          </a:ln>
        </p:spPr>
        <p:txBody>
          <a:bodyPr rtlCol="0" anchor="ctr"/>
          <a:lstStyle/>
          <a:p>
            <a:pPr algn="ctr"/>
          </a:p>
        </p:txBody>
      </p:sp>
      <p:sp>
        <p:nvSpPr>
          <p:cNvPr id="28" name="s03-cell-025"/>
          <p:cNvSpPr/>
          <p:nvPr/>
        </p:nvSpPr>
        <p:spPr>
          <a:xfrm>
            <a:off x="1408176" y="2212848"/>
            <a:ext cx="201168" cy="201168"/>
          </a:xfrm>
          <a:prstGeom prst="rect">
            <a:avLst/>
          </a:prstGeom>
          <a:solidFill>
            <a:srgbClr val="0F9ED5"/>
          </a:solidFill>
          <a:ln>
            <a:noFill/>
          </a:ln>
        </p:spPr>
        <p:txBody>
          <a:bodyPr rtlCol="0" anchor="ctr"/>
          <a:lstStyle/>
          <a:p>
            <a:pPr algn="ctr"/>
          </a:p>
        </p:txBody>
      </p:sp>
      <p:sp>
        <p:nvSpPr>
          <p:cNvPr id="29" name="s03-cell-026"/>
          <p:cNvSpPr/>
          <p:nvPr/>
        </p:nvSpPr>
        <p:spPr>
          <a:xfrm>
            <a:off x="1645920" y="2212848"/>
            <a:ext cx="201168" cy="201168"/>
          </a:xfrm>
          <a:prstGeom prst="rect">
            <a:avLst/>
          </a:prstGeom>
          <a:solidFill>
            <a:srgbClr val="0F9ED5"/>
          </a:solidFill>
          <a:ln>
            <a:noFill/>
          </a:ln>
        </p:spPr>
        <p:txBody>
          <a:bodyPr rtlCol="0" anchor="ctr"/>
          <a:lstStyle/>
          <a:p>
            <a:pPr algn="ctr"/>
          </a:p>
        </p:txBody>
      </p:sp>
      <p:sp>
        <p:nvSpPr>
          <p:cNvPr id="30" name="s03-cell-027"/>
          <p:cNvSpPr/>
          <p:nvPr/>
        </p:nvSpPr>
        <p:spPr>
          <a:xfrm>
            <a:off x="1883664" y="2212848"/>
            <a:ext cx="201168" cy="201168"/>
          </a:xfrm>
          <a:prstGeom prst="rect">
            <a:avLst/>
          </a:prstGeom>
          <a:solidFill>
            <a:srgbClr val="0F9ED5"/>
          </a:solidFill>
          <a:ln>
            <a:noFill/>
          </a:ln>
        </p:spPr>
        <p:txBody>
          <a:bodyPr rtlCol="0" anchor="ctr"/>
          <a:lstStyle/>
          <a:p>
            <a:pPr algn="ctr"/>
          </a:p>
        </p:txBody>
      </p:sp>
      <p:sp>
        <p:nvSpPr>
          <p:cNvPr id="31" name="s03-cell-028"/>
          <p:cNvSpPr/>
          <p:nvPr/>
        </p:nvSpPr>
        <p:spPr>
          <a:xfrm>
            <a:off x="2121408" y="2212848"/>
            <a:ext cx="201168" cy="201168"/>
          </a:xfrm>
          <a:prstGeom prst="rect">
            <a:avLst/>
          </a:prstGeom>
          <a:solidFill>
            <a:srgbClr val="0F9ED5"/>
          </a:solidFill>
          <a:ln>
            <a:noFill/>
          </a:ln>
        </p:spPr>
        <p:txBody>
          <a:bodyPr rtlCol="0" anchor="ctr"/>
          <a:lstStyle/>
          <a:p>
            <a:pPr algn="ctr"/>
          </a:p>
        </p:txBody>
      </p:sp>
      <p:sp>
        <p:nvSpPr>
          <p:cNvPr id="32" name="s03-cell-029"/>
          <p:cNvSpPr/>
          <p:nvPr/>
        </p:nvSpPr>
        <p:spPr>
          <a:xfrm>
            <a:off x="2359152" y="2212848"/>
            <a:ext cx="201168" cy="201168"/>
          </a:xfrm>
          <a:prstGeom prst="rect">
            <a:avLst/>
          </a:prstGeom>
          <a:solidFill>
            <a:srgbClr val="0F9ED5"/>
          </a:solidFill>
          <a:ln>
            <a:noFill/>
          </a:ln>
        </p:spPr>
        <p:txBody>
          <a:bodyPr rtlCol="0" anchor="ctr"/>
          <a:lstStyle/>
          <a:p>
            <a:pPr algn="ctr"/>
          </a:p>
        </p:txBody>
      </p:sp>
      <p:sp>
        <p:nvSpPr>
          <p:cNvPr id="33" name="s03-cell-030"/>
          <p:cNvSpPr/>
          <p:nvPr/>
        </p:nvSpPr>
        <p:spPr>
          <a:xfrm>
            <a:off x="2596896" y="2212848"/>
            <a:ext cx="201168" cy="201168"/>
          </a:xfrm>
          <a:prstGeom prst="rect">
            <a:avLst/>
          </a:prstGeom>
          <a:solidFill>
            <a:srgbClr val="0F9ED5"/>
          </a:solidFill>
          <a:ln>
            <a:noFill/>
          </a:ln>
        </p:spPr>
        <p:txBody>
          <a:bodyPr rtlCol="0" anchor="ctr"/>
          <a:lstStyle/>
          <a:p>
            <a:pPr algn="ctr"/>
          </a:p>
        </p:txBody>
      </p:sp>
      <p:sp>
        <p:nvSpPr>
          <p:cNvPr id="34" name="s03-cell-031"/>
          <p:cNvSpPr/>
          <p:nvPr/>
        </p:nvSpPr>
        <p:spPr>
          <a:xfrm>
            <a:off x="457200" y="2450591"/>
            <a:ext cx="201168" cy="201168"/>
          </a:xfrm>
          <a:prstGeom prst="rect">
            <a:avLst/>
          </a:prstGeom>
          <a:solidFill>
            <a:srgbClr val="0F9ED5"/>
          </a:solidFill>
          <a:ln>
            <a:noFill/>
          </a:ln>
        </p:spPr>
        <p:txBody>
          <a:bodyPr rtlCol="0" anchor="ctr"/>
          <a:lstStyle/>
          <a:p>
            <a:pPr algn="ctr"/>
          </a:p>
        </p:txBody>
      </p:sp>
      <p:sp>
        <p:nvSpPr>
          <p:cNvPr id="35" name="s03-cell-032"/>
          <p:cNvSpPr/>
          <p:nvPr/>
        </p:nvSpPr>
        <p:spPr>
          <a:xfrm>
            <a:off x="694944" y="2450591"/>
            <a:ext cx="201168" cy="201168"/>
          </a:xfrm>
          <a:prstGeom prst="rect">
            <a:avLst/>
          </a:prstGeom>
          <a:solidFill>
            <a:srgbClr val="0F9ED5"/>
          </a:solidFill>
          <a:ln>
            <a:noFill/>
          </a:ln>
        </p:spPr>
        <p:txBody>
          <a:bodyPr rtlCol="0" anchor="ctr"/>
          <a:lstStyle/>
          <a:p>
            <a:pPr algn="ctr"/>
          </a:p>
        </p:txBody>
      </p:sp>
      <p:sp>
        <p:nvSpPr>
          <p:cNvPr id="36" name="s03-cell-033"/>
          <p:cNvSpPr/>
          <p:nvPr/>
        </p:nvSpPr>
        <p:spPr>
          <a:xfrm>
            <a:off x="932688" y="2450591"/>
            <a:ext cx="201168" cy="201168"/>
          </a:xfrm>
          <a:prstGeom prst="rect">
            <a:avLst/>
          </a:prstGeom>
          <a:solidFill>
            <a:srgbClr val="0F9ED5"/>
          </a:solidFill>
          <a:ln>
            <a:noFill/>
          </a:ln>
        </p:spPr>
        <p:txBody>
          <a:bodyPr rtlCol="0" anchor="ctr"/>
          <a:lstStyle/>
          <a:p>
            <a:pPr algn="ctr"/>
          </a:p>
        </p:txBody>
      </p:sp>
      <p:sp>
        <p:nvSpPr>
          <p:cNvPr id="37" name="s03-cell-034"/>
          <p:cNvSpPr/>
          <p:nvPr/>
        </p:nvSpPr>
        <p:spPr>
          <a:xfrm>
            <a:off x="1170432" y="2450591"/>
            <a:ext cx="201168" cy="201168"/>
          </a:xfrm>
          <a:prstGeom prst="rect">
            <a:avLst/>
          </a:prstGeom>
          <a:solidFill>
            <a:srgbClr val="0F9ED5"/>
          </a:solidFill>
          <a:ln>
            <a:noFill/>
          </a:ln>
        </p:spPr>
        <p:txBody>
          <a:bodyPr rtlCol="0" anchor="ctr"/>
          <a:lstStyle/>
          <a:p>
            <a:pPr algn="ctr"/>
          </a:p>
        </p:txBody>
      </p:sp>
      <p:sp>
        <p:nvSpPr>
          <p:cNvPr id="38" name="s03-cell-035"/>
          <p:cNvSpPr/>
          <p:nvPr/>
        </p:nvSpPr>
        <p:spPr>
          <a:xfrm>
            <a:off x="1408176" y="2450591"/>
            <a:ext cx="201168" cy="201168"/>
          </a:xfrm>
          <a:prstGeom prst="rect">
            <a:avLst/>
          </a:prstGeom>
          <a:solidFill>
            <a:srgbClr val="0F9ED5"/>
          </a:solidFill>
          <a:ln>
            <a:noFill/>
          </a:ln>
        </p:spPr>
        <p:txBody>
          <a:bodyPr rtlCol="0" anchor="ctr"/>
          <a:lstStyle/>
          <a:p>
            <a:pPr algn="ctr"/>
          </a:p>
        </p:txBody>
      </p:sp>
      <p:sp>
        <p:nvSpPr>
          <p:cNvPr id="39" name="s03-cell-036"/>
          <p:cNvSpPr/>
          <p:nvPr/>
        </p:nvSpPr>
        <p:spPr>
          <a:xfrm>
            <a:off x="1645920" y="2450591"/>
            <a:ext cx="201168" cy="201168"/>
          </a:xfrm>
          <a:prstGeom prst="rect">
            <a:avLst/>
          </a:prstGeom>
          <a:solidFill>
            <a:srgbClr val="0F9ED5"/>
          </a:solidFill>
          <a:ln>
            <a:noFill/>
          </a:ln>
        </p:spPr>
        <p:txBody>
          <a:bodyPr rtlCol="0" anchor="ctr"/>
          <a:lstStyle/>
          <a:p>
            <a:pPr algn="ctr"/>
          </a:p>
        </p:txBody>
      </p:sp>
      <p:sp>
        <p:nvSpPr>
          <p:cNvPr id="40" name="s03-cell-037"/>
          <p:cNvSpPr/>
          <p:nvPr/>
        </p:nvSpPr>
        <p:spPr>
          <a:xfrm>
            <a:off x="1883664" y="2450591"/>
            <a:ext cx="201168" cy="201168"/>
          </a:xfrm>
          <a:prstGeom prst="rect">
            <a:avLst/>
          </a:prstGeom>
          <a:solidFill>
            <a:srgbClr val="0F9ED5"/>
          </a:solidFill>
          <a:ln>
            <a:noFill/>
          </a:ln>
        </p:spPr>
        <p:txBody>
          <a:bodyPr rtlCol="0" anchor="ctr"/>
          <a:lstStyle/>
          <a:p>
            <a:pPr algn="ctr"/>
          </a:p>
        </p:txBody>
      </p:sp>
      <p:sp>
        <p:nvSpPr>
          <p:cNvPr id="41" name="s03-cell-038"/>
          <p:cNvSpPr/>
          <p:nvPr/>
        </p:nvSpPr>
        <p:spPr>
          <a:xfrm>
            <a:off x="2121408" y="2450591"/>
            <a:ext cx="201168" cy="201168"/>
          </a:xfrm>
          <a:prstGeom prst="rect">
            <a:avLst/>
          </a:prstGeom>
          <a:solidFill>
            <a:srgbClr val="0F9ED5"/>
          </a:solidFill>
          <a:ln>
            <a:noFill/>
          </a:ln>
        </p:spPr>
        <p:txBody>
          <a:bodyPr rtlCol="0" anchor="ctr"/>
          <a:lstStyle/>
          <a:p>
            <a:pPr algn="ctr"/>
          </a:p>
        </p:txBody>
      </p:sp>
      <p:sp>
        <p:nvSpPr>
          <p:cNvPr id="42" name="s03-cell-039"/>
          <p:cNvSpPr/>
          <p:nvPr/>
        </p:nvSpPr>
        <p:spPr>
          <a:xfrm>
            <a:off x="2359152" y="2450591"/>
            <a:ext cx="201168" cy="201168"/>
          </a:xfrm>
          <a:prstGeom prst="rect">
            <a:avLst/>
          </a:prstGeom>
          <a:solidFill>
            <a:srgbClr val="0F9ED5"/>
          </a:solidFill>
          <a:ln>
            <a:noFill/>
          </a:ln>
        </p:spPr>
        <p:txBody>
          <a:bodyPr rtlCol="0" anchor="ctr"/>
          <a:lstStyle/>
          <a:p>
            <a:pPr algn="ctr"/>
          </a:p>
        </p:txBody>
      </p:sp>
      <p:sp>
        <p:nvSpPr>
          <p:cNvPr id="43" name="s03-cell-040"/>
          <p:cNvSpPr/>
          <p:nvPr/>
        </p:nvSpPr>
        <p:spPr>
          <a:xfrm>
            <a:off x="2596896" y="2450591"/>
            <a:ext cx="201168" cy="201168"/>
          </a:xfrm>
          <a:prstGeom prst="rect">
            <a:avLst/>
          </a:prstGeom>
          <a:solidFill>
            <a:srgbClr val="0F9ED5"/>
          </a:solidFill>
          <a:ln>
            <a:noFill/>
          </a:ln>
        </p:spPr>
        <p:txBody>
          <a:bodyPr rtlCol="0" anchor="ctr"/>
          <a:lstStyle/>
          <a:p>
            <a:pPr algn="ctr"/>
          </a:p>
        </p:txBody>
      </p:sp>
      <p:sp>
        <p:nvSpPr>
          <p:cNvPr id="44" name="s03-cell-041"/>
          <p:cNvSpPr/>
          <p:nvPr/>
        </p:nvSpPr>
        <p:spPr>
          <a:xfrm>
            <a:off x="457200" y="2688336"/>
            <a:ext cx="201168" cy="201168"/>
          </a:xfrm>
          <a:prstGeom prst="rect">
            <a:avLst/>
          </a:prstGeom>
          <a:solidFill>
            <a:srgbClr val="0F9ED5"/>
          </a:solidFill>
          <a:ln>
            <a:noFill/>
          </a:ln>
        </p:spPr>
        <p:txBody>
          <a:bodyPr rtlCol="0" anchor="ctr"/>
          <a:lstStyle/>
          <a:p>
            <a:pPr algn="ctr"/>
          </a:p>
        </p:txBody>
      </p:sp>
      <p:sp>
        <p:nvSpPr>
          <p:cNvPr id="45" name="s03-cell-042"/>
          <p:cNvSpPr/>
          <p:nvPr/>
        </p:nvSpPr>
        <p:spPr>
          <a:xfrm>
            <a:off x="694944" y="2688336"/>
            <a:ext cx="201168" cy="201168"/>
          </a:xfrm>
          <a:prstGeom prst="rect">
            <a:avLst/>
          </a:prstGeom>
          <a:solidFill>
            <a:srgbClr val="0F9ED5"/>
          </a:solidFill>
          <a:ln>
            <a:noFill/>
          </a:ln>
        </p:spPr>
        <p:txBody>
          <a:bodyPr rtlCol="0" anchor="ctr"/>
          <a:lstStyle/>
          <a:p>
            <a:pPr algn="ctr"/>
          </a:p>
        </p:txBody>
      </p:sp>
      <p:sp>
        <p:nvSpPr>
          <p:cNvPr id="46" name="s03-cell-043"/>
          <p:cNvSpPr/>
          <p:nvPr/>
        </p:nvSpPr>
        <p:spPr>
          <a:xfrm>
            <a:off x="932688" y="2688336"/>
            <a:ext cx="201168" cy="201168"/>
          </a:xfrm>
          <a:prstGeom prst="rect">
            <a:avLst/>
          </a:prstGeom>
          <a:solidFill>
            <a:srgbClr val="0F9ED5"/>
          </a:solidFill>
          <a:ln>
            <a:noFill/>
          </a:ln>
        </p:spPr>
        <p:txBody>
          <a:bodyPr rtlCol="0" anchor="ctr"/>
          <a:lstStyle/>
          <a:p>
            <a:pPr algn="ctr"/>
          </a:p>
        </p:txBody>
      </p:sp>
      <p:sp>
        <p:nvSpPr>
          <p:cNvPr id="47" name="s03-cell-044"/>
          <p:cNvSpPr/>
          <p:nvPr/>
        </p:nvSpPr>
        <p:spPr>
          <a:xfrm>
            <a:off x="1170432" y="2688336"/>
            <a:ext cx="201168" cy="201168"/>
          </a:xfrm>
          <a:prstGeom prst="rect">
            <a:avLst/>
          </a:prstGeom>
          <a:solidFill>
            <a:srgbClr val="0F9ED5"/>
          </a:solidFill>
          <a:ln>
            <a:noFill/>
          </a:ln>
        </p:spPr>
        <p:txBody>
          <a:bodyPr rtlCol="0" anchor="ctr"/>
          <a:lstStyle/>
          <a:p>
            <a:pPr algn="ctr"/>
          </a:p>
        </p:txBody>
      </p:sp>
      <p:sp>
        <p:nvSpPr>
          <p:cNvPr id="48" name="s03-cell-045"/>
          <p:cNvSpPr/>
          <p:nvPr/>
        </p:nvSpPr>
        <p:spPr>
          <a:xfrm>
            <a:off x="1408176" y="2688336"/>
            <a:ext cx="201168" cy="201168"/>
          </a:xfrm>
          <a:prstGeom prst="rect">
            <a:avLst/>
          </a:prstGeom>
          <a:solidFill>
            <a:srgbClr val="0F9ED5"/>
          </a:solidFill>
          <a:ln>
            <a:noFill/>
          </a:ln>
        </p:spPr>
        <p:txBody>
          <a:bodyPr rtlCol="0" anchor="ctr"/>
          <a:lstStyle/>
          <a:p>
            <a:pPr algn="ctr"/>
          </a:p>
        </p:txBody>
      </p:sp>
      <p:sp>
        <p:nvSpPr>
          <p:cNvPr id="49" name="s03-cell-046"/>
          <p:cNvSpPr/>
          <p:nvPr/>
        </p:nvSpPr>
        <p:spPr>
          <a:xfrm>
            <a:off x="1645920" y="2688336"/>
            <a:ext cx="201168" cy="201168"/>
          </a:xfrm>
          <a:prstGeom prst="rect">
            <a:avLst/>
          </a:prstGeom>
          <a:solidFill>
            <a:srgbClr val="0F9ED5"/>
          </a:solidFill>
          <a:ln>
            <a:noFill/>
          </a:ln>
        </p:spPr>
        <p:txBody>
          <a:bodyPr rtlCol="0" anchor="ctr"/>
          <a:lstStyle/>
          <a:p>
            <a:pPr algn="ctr"/>
          </a:p>
        </p:txBody>
      </p:sp>
      <p:sp>
        <p:nvSpPr>
          <p:cNvPr id="50" name="s03-cell-047"/>
          <p:cNvSpPr/>
          <p:nvPr/>
        </p:nvSpPr>
        <p:spPr>
          <a:xfrm>
            <a:off x="1883664" y="2688336"/>
            <a:ext cx="201168" cy="201168"/>
          </a:xfrm>
          <a:prstGeom prst="rect">
            <a:avLst/>
          </a:prstGeom>
          <a:solidFill>
            <a:srgbClr val="0F9ED5"/>
          </a:solidFill>
          <a:ln>
            <a:noFill/>
          </a:ln>
        </p:spPr>
        <p:txBody>
          <a:bodyPr rtlCol="0" anchor="ctr"/>
          <a:lstStyle/>
          <a:p>
            <a:pPr algn="ctr"/>
          </a:p>
        </p:txBody>
      </p:sp>
      <p:sp>
        <p:nvSpPr>
          <p:cNvPr id="51" name="s03-cell-048"/>
          <p:cNvSpPr/>
          <p:nvPr/>
        </p:nvSpPr>
        <p:spPr>
          <a:xfrm>
            <a:off x="2121408" y="2688336"/>
            <a:ext cx="201168" cy="201168"/>
          </a:xfrm>
          <a:prstGeom prst="rect">
            <a:avLst/>
          </a:prstGeom>
          <a:solidFill>
            <a:srgbClr val="0F9ED5"/>
          </a:solidFill>
          <a:ln>
            <a:noFill/>
          </a:ln>
        </p:spPr>
        <p:txBody>
          <a:bodyPr rtlCol="0" anchor="ctr"/>
          <a:lstStyle/>
          <a:p>
            <a:pPr algn="ctr"/>
          </a:p>
        </p:txBody>
      </p:sp>
      <p:sp>
        <p:nvSpPr>
          <p:cNvPr id="52" name="s03-cell-049"/>
          <p:cNvSpPr/>
          <p:nvPr/>
        </p:nvSpPr>
        <p:spPr>
          <a:xfrm>
            <a:off x="2359152" y="2688336"/>
            <a:ext cx="201168" cy="201168"/>
          </a:xfrm>
          <a:prstGeom prst="rect">
            <a:avLst/>
          </a:prstGeom>
          <a:solidFill>
            <a:srgbClr val="0F9ED5"/>
          </a:solidFill>
          <a:ln>
            <a:noFill/>
          </a:ln>
        </p:spPr>
        <p:txBody>
          <a:bodyPr rtlCol="0" anchor="ctr"/>
          <a:lstStyle/>
          <a:p>
            <a:pPr algn="ctr"/>
          </a:p>
        </p:txBody>
      </p:sp>
      <p:sp>
        <p:nvSpPr>
          <p:cNvPr id="53" name="s03-cell-050"/>
          <p:cNvSpPr/>
          <p:nvPr/>
        </p:nvSpPr>
        <p:spPr>
          <a:xfrm>
            <a:off x="2596896" y="2688336"/>
            <a:ext cx="201168" cy="201168"/>
          </a:xfrm>
          <a:prstGeom prst="rect">
            <a:avLst/>
          </a:prstGeom>
          <a:solidFill>
            <a:srgbClr val="0F9ED5"/>
          </a:solidFill>
          <a:ln>
            <a:noFill/>
          </a:ln>
        </p:spPr>
        <p:txBody>
          <a:bodyPr rtlCol="0" anchor="ctr"/>
          <a:lstStyle/>
          <a:p>
            <a:pPr algn="ctr"/>
          </a:p>
        </p:txBody>
      </p:sp>
      <p:sp>
        <p:nvSpPr>
          <p:cNvPr id="54" name="s03-cell-051"/>
          <p:cNvSpPr/>
          <p:nvPr/>
        </p:nvSpPr>
        <p:spPr>
          <a:xfrm>
            <a:off x="457200" y="2926080"/>
            <a:ext cx="201168" cy="201168"/>
          </a:xfrm>
          <a:prstGeom prst="rect">
            <a:avLst/>
          </a:prstGeom>
          <a:solidFill>
            <a:srgbClr val="0F9ED5"/>
          </a:solidFill>
          <a:ln>
            <a:noFill/>
          </a:ln>
        </p:spPr>
        <p:txBody>
          <a:bodyPr rtlCol="0" anchor="ctr"/>
          <a:lstStyle/>
          <a:p>
            <a:pPr algn="ctr"/>
          </a:p>
        </p:txBody>
      </p:sp>
      <p:sp>
        <p:nvSpPr>
          <p:cNvPr id="55" name="s03-cell-052"/>
          <p:cNvSpPr/>
          <p:nvPr/>
        </p:nvSpPr>
        <p:spPr>
          <a:xfrm>
            <a:off x="694944" y="2926080"/>
            <a:ext cx="201168" cy="201168"/>
          </a:xfrm>
          <a:prstGeom prst="rect">
            <a:avLst/>
          </a:prstGeom>
          <a:solidFill>
            <a:srgbClr val="0F9ED5"/>
          </a:solidFill>
          <a:ln>
            <a:noFill/>
          </a:ln>
        </p:spPr>
        <p:txBody>
          <a:bodyPr rtlCol="0" anchor="ctr"/>
          <a:lstStyle/>
          <a:p>
            <a:pPr algn="ctr"/>
          </a:p>
        </p:txBody>
      </p:sp>
      <p:sp>
        <p:nvSpPr>
          <p:cNvPr id="56" name="s03-cell-053"/>
          <p:cNvSpPr/>
          <p:nvPr/>
        </p:nvSpPr>
        <p:spPr>
          <a:xfrm>
            <a:off x="932688" y="2926080"/>
            <a:ext cx="201168" cy="201168"/>
          </a:xfrm>
          <a:prstGeom prst="rect">
            <a:avLst/>
          </a:prstGeom>
          <a:solidFill>
            <a:srgbClr val="0F9ED5"/>
          </a:solidFill>
          <a:ln>
            <a:noFill/>
          </a:ln>
        </p:spPr>
        <p:txBody>
          <a:bodyPr rtlCol="0" anchor="ctr"/>
          <a:lstStyle/>
          <a:p>
            <a:pPr algn="ctr"/>
          </a:p>
        </p:txBody>
      </p:sp>
      <p:sp>
        <p:nvSpPr>
          <p:cNvPr id="57" name="s03-cell-054"/>
          <p:cNvSpPr/>
          <p:nvPr/>
        </p:nvSpPr>
        <p:spPr>
          <a:xfrm>
            <a:off x="1170432" y="2926080"/>
            <a:ext cx="201168" cy="201168"/>
          </a:xfrm>
          <a:prstGeom prst="rect">
            <a:avLst/>
          </a:prstGeom>
          <a:solidFill>
            <a:srgbClr val="0F9ED5"/>
          </a:solidFill>
          <a:ln>
            <a:noFill/>
          </a:ln>
        </p:spPr>
        <p:txBody>
          <a:bodyPr rtlCol="0" anchor="ctr"/>
          <a:lstStyle/>
          <a:p>
            <a:pPr algn="ctr"/>
          </a:p>
        </p:txBody>
      </p:sp>
      <p:sp>
        <p:nvSpPr>
          <p:cNvPr id="58" name="s03-cell-055"/>
          <p:cNvSpPr/>
          <p:nvPr/>
        </p:nvSpPr>
        <p:spPr>
          <a:xfrm>
            <a:off x="1408176" y="2926080"/>
            <a:ext cx="201168" cy="201168"/>
          </a:xfrm>
          <a:prstGeom prst="rect">
            <a:avLst/>
          </a:prstGeom>
          <a:solidFill>
            <a:srgbClr val="0F9ED5"/>
          </a:solidFill>
          <a:ln>
            <a:noFill/>
          </a:ln>
        </p:spPr>
        <p:txBody>
          <a:bodyPr rtlCol="0" anchor="ctr"/>
          <a:lstStyle/>
          <a:p>
            <a:pPr algn="ctr"/>
          </a:p>
        </p:txBody>
      </p:sp>
      <p:sp>
        <p:nvSpPr>
          <p:cNvPr id="59" name="s03-cell-056"/>
          <p:cNvSpPr/>
          <p:nvPr/>
        </p:nvSpPr>
        <p:spPr>
          <a:xfrm>
            <a:off x="1645920" y="2926080"/>
            <a:ext cx="201168" cy="201168"/>
          </a:xfrm>
          <a:prstGeom prst="rect">
            <a:avLst/>
          </a:prstGeom>
          <a:solidFill>
            <a:srgbClr val="0F9ED5"/>
          </a:solidFill>
          <a:ln>
            <a:noFill/>
          </a:ln>
        </p:spPr>
        <p:txBody>
          <a:bodyPr rtlCol="0" anchor="ctr"/>
          <a:lstStyle/>
          <a:p>
            <a:pPr algn="ctr"/>
          </a:p>
        </p:txBody>
      </p:sp>
      <p:sp>
        <p:nvSpPr>
          <p:cNvPr id="60" name="s03-cell-057"/>
          <p:cNvSpPr/>
          <p:nvPr/>
        </p:nvSpPr>
        <p:spPr>
          <a:xfrm>
            <a:off x="1883664" y="2926080"/>
            <a:ext cx="201168" cy="201168"/>
          </a:xfrm>
          <a:prstGeom prst="rect">
            <a:avLst/>
          </a:prstGeom>
          <a:solidFill>
            <a:srgbClr val="0F9ED5"/>
          </a:solidFill>
          <a:ln>
            <a:noFill/>
          </a:ln>
        </p:spPr>
        <p:txBody>
          <a:bodyPr rtlCol="0" anchor="ctr"/>
          <a:lstStyle/>
          <a:p>
            <a:pPr algn="ctr"/>
          </a:p>
        </p:txBody>
      </p:sp>
      <p:sp>
        <p:nvSpPr>
          <p:cNvPr id="61" name="s03-cell-058"/>
          <p:cNvSpPr/>
          <p:nvPr/>
        </p:nvSpPr>
        <p:spPr>
          <a:xfrm>
            <a:off x="2121408" y="2926080"/>
            <a:ext cx="201168" cy="201168"/>
          </a:xfrm>
          <a:prstGeom prst="rect">
            <a:avLst/>
          </a:prstGeom>
          <a:solidFill>
            <a:srgbClr val="0F9ED5"/>
          </a:solidFill>
          <a:ln>
            <a:noFill/>
          </a:ln>
        </p:spPr>
        <p:txBody>
          <a:bodyPr rtlCol="0" anchor="ctr"/>
          <a:lstStyle/>
          <a:p>
            <a:pPr algn="ctr"/>
          </a:p>
        </p:txBody>
      </p:sp>
      <p:sp>
        <p:nvSpPr>
          <p:cNvPr id="62" name="s03-cell-059"/>
          <p:cNvSpPr/>
          <p:nvPr/>
        </p:nvSpPr>
        <p:spPr>
          <a:xfrm>
            <a:off x="2359152" y="2926080"/>
            <a:ext cx="201168" cy="201168"/>
          </a:xfrm>
          <a:prstGeom prst="rect">
            <a:avLst/>
          </a:prstGeom>
          <a:solidFill>
            <a:srgbClr val="0F9ED5"/>
          </a:solidFill>
          <a:ln>
            <a:noFill/>
          </a:ln>
        </p:spPr>
        <p:txBody>
          <a:bodyPr rtlCol="0" anchor="ctr"/>
          <a:lstStyle/>
          <a:p>
            <a:pPr algn="ctr"/>
          </a:p>
        </p:txBody>
      </p:sp>
      <p:sp>
        <p:nvSpPr>
          <p:cNvPr id="63" name="s03-cell-060"/>
          <p:cNvSpPr/>
          <p:nvPr/>
        </p:nvSpPr>
        <p:spPr>
          <a:xfrm>
            <a:off x="2596896" y="2926080"/>
            <a:ext cx="201168" cy="201168"/>
          </a:xfrm>
          <a:prstGeom prst="rect">
            <a:avLst/>
          </a:prstGeom>
          <a:solidFill>
            <a:srgbClr val="0F9ED5"/>
          </a:solidFill>
          <a:ln>
            <a:noFill/>
          </a:ln>
        </p:spPr>
        <p:txBody>
          <a:bodyPr rtlCol="0" anchor="ctr"/>
          <a:lstStyle/>
          <a:p>
            <a:pPr algn="ctr"/>
          </a:p>
        </p:txBody>
      </p:sp>
      <p:sp>
        <p:nvSpPr>
          <p:cNvPr id="64" name="s03-cell-061"/>
          <p:cNvSpPr/>
          <p:nvPr/>
        </p:nvSpPr>
        <p:spPr>
          <a:xfrm>
            <a:off x="457200" y="3163824"/>
            <a:ext cx="201168" cy="201168"/>
          </a:xfrm>
          <a:prstGeom prst="rect">
            <a:avLst/>
          </a:prstGeom>
          <a:solidFill>
            <a:srgbClr val="0F9ED5"/>
          </a:solidFill>
          <a:ln>
            <a:noFill/>
          </a:ln>
        </p:spPr>
        <p:txBody>
          <a:bodyPr rtlCol="0" anchor="ctr"/>
          <a:lstStyle/>
          <a:p>
            <a:pPr algn="ctr"/>
          </a:p>
        </p:txBody>
      </p:sp>
      <p:sp>
        <p:nvSpPr>
          <p:cNvPr id="65" name="s03-cell-062"/>
          <p:cNvSpPr/>
          <p:nvPr/>
        </p:nvSpPr>
        <p:spPr>
          <a:xfrm>
            <a:off x="694944" y="3163824"/>
            <a:ext cx="201168" cy="201168"/>
          </a:xfrm>
          <a:prstGeom prst="rect">
            <a:avLst/>
          </a:prstGeom>
          <a:solidFill>
            <a:srgbClr val="0F9ED5"/>
          </a:solidFill>
          <a:ln>
            <a:noFill/>
          </a:ln>
        </p:spPr>
        <p:txBody>
          <a:bodyPr rtlCol="0" anchor="ctr"/>
          <a:lstStyle/>
          <a:p>
            <a:pPr algn="ctr"/>
          </a:p>
        </p:txBody>
      </p:sp>
      <p:sp>
        <p:nvSpPr>
          <p:cNvPr id="66" name="s03-cell-063"/>
          <p:cNvSpPr/>
          <p:nvPr/>
        </p:nvSpPr>
        <p:spPr>
          <a:xfrm>
            <a:off x="932688" y="3163824"/>
            <a:ext cx="201168" cy="201168"/>
          </a:xfrm>
          <a:prstGeom prst="rect">
            <a:avLst/>
          </a:prstGeom>
          <a:solidFill>
            <a:srgbClr val="0F9ED5"/>
          </a:solidFill>
          <a:ln>
            <a:noFill/>
          </a:ln>
        </p:spPr>
        <p:txBody>
          <a:bodyPr rtlCol="0" anchor="ctr"/>
          <a:lstStyle/>
          <a:p>
            <a:pPr algn="ctr"/>
          </a:p>
        </p:txBody>
      </p:sp>
      <p:sp>
        <p:nvSpPr>
          <p:cNvPr id="67" name="s03-cell-064"/>
          <p:cNvSpPr/>
          <p:nvPr/>
        </p:nvSpPr>
        <p:spPr>
          <a:xfrm>
            <a:off x="1170432" y="3163824"/>
            <a:ext cx="201168" cy="201168"/>
          </a:xfrm>
          <a:prstGeom prst="rect">
            <a:avLst/>
          </a:prstGeom>
          <a:solidFill>
            <a:srgbClr val="0F9ED5"/>
          </a:solidFill>
          <a:ln>
            <a:noFill/>
          </a:ln>
        </p:spPr>
        <p:txBody>
          <a:bodyPr rtlCol="0" anchor="ctr"/>
          <a:lstStyle/>
          <a:p>
            <a:pPr algn="ctr"/>
          </a:p>
        </p:txBody>
      </p:sp>
      <p:sp>
        <p:nvSpPr>
          <p:cNvPr id="68" name="s03-cell-065"/>
          <p:cNvSpPr/>
          <p:nvPr/>
        </p:nvSpPr>
        <p:spPr>
          <a:xfrm>
            <a:off x="1408176" y="3163824"/>
            <a:ext cx="201168" cy="201168"/>
          </a:xfrm>
          <a:prstGeom prst="rect">
            <a:avLst/>
          </a:prstGeom>
          <a:solidFill>
            <a:srgbClr val="0F9ED5"/>
          </a:solidFill>
          <a:ln>
            <a:noFill/>
          </a:ln>
        </p:spPr>
        <p:txBody>
          <a:bodyPr rtlCol="0" anchor="ctr"/>
          <a:lstStyle/>
          <a:p>
            <a:pPr algn="ctr"/>
          </a:p>
        </p:txBody>
      </p:sp>
      <p:sp>
        <p:nvSpPr>
          <p:cNvPr id="69" name="s03-cell-066"/>
          <p:cNvSpPr/>
          <p:nvPr/>
        </p:nvSpPr>
        <p:spPr>
          <a:xfrm>
            <a:off x="1645920" y="3163824"/>
            <a:ext cx="201168" cy="201168"/>
          </a:xfrm>
          <a:prstGeom prst="rect">
            <a:avLst/>
          </a:prstGeom>
          <a:solidFill>
            <a:srgbClr val="0F9ED5"/>
          </a:solidFill>
          <a:ln>
            <a:noFill/>
          </a:ln>
        </p:spPr>
        <p:txBody>
          <a:bodyPr rtlCol="0" anchor="ctr"/>
          <a:lstStyle/>
          <a:p>
            <a:pPr algn="ctr"/>
          </a:p>
        </p:txBody>
      </p:sp>
      <p:sp>
        <p:nvSpPr>
          <p:cNvPr id="70" name="s03-cell-067"/>
          <p:cNvSpPr/>
          <p:nvPr/>
        </p:nvSpPr>
        <p:spPr>
          <a:xfrm>
            <a:off x="1883664" y="3163824"/>
            <a:ext cx="201168" cy="201168"/>
          </a:xfrm>
          <a:prstGeom prst="rect">
            <a:avLst/>
          </a:prstGeom>
          <a:solidFill>
            <a:srgbClr val="0F9ED5"/>
          </a:solidFill>
          <a:ln>
            <a:noFill/>
          </a:ln>
        </p:spPr>
        <p:txBody>
          <a:bodyPr rtlCol="0" anchor="ctr"/>
          <a:lstStyle/>
          <a:p>
            <a:pPr algn="ctr"/>
          </a:p>
        </p:txBody>
      </p:sp>
      <p:sp>
        <p:nvSpPr>
          <p:cNvPr id="71" name="s03-cell-068"/>
          <p:cNvSpPr/>
          <p:nvPr/>
        </p:nvSpPr>
        <p:spPr>
          <a:xfrm>
            <a:off x="2121408" y="3163824"/>
            <a:ext cx="201168" cy="201168"/>
          </a:xfrm>
          <a:prstGeom prst="rect">
            <a:avLst/>
          </a:prstGeom>
          <a:solidFill>
            <a:srgbClr val="0F9ED5"/>
          </a:solidFill>
          <a:ln>
            <a:noFill/>
          </a:ln>
        </p:spPr>
        <p:txBody>
          <a:bodyPr rtlCol="0" anchor="ctr"/>
          <a:lstStyle/>
          <a:p>
            <a:pPr algn="ctr"/>
          </a:p>
        </p:txBody>
      </p:sp>
      <p:sp>
        <p:nvSpPr>
          <p:cNvPr id="72" name="s03-cell-069"/>
          <p:cNvSpPr/>
          <p:nvPr/>
        </p:nvSpPr>
        <p:spPr>
          <a:xfrm>
            <a:off x="2359152" y="3163824"/>
            <a:ext cx="201168" cy="201168"/>
          </a:xfrm>
          <a:prstGeom prst="rect">
            <a:avLst/>
          </a:prstGeom>
          <a:solidFill>
            <a:srgbClr val="0F9ED5"/>
          </a:solidFill>
          <a:ln>
            <a:noFill/>
          </a:ln>
        </p:spPr>
        <p:txBody>
          <a:bodyPr rtlCol="0" anchor="ctr"/>
          <a:lstStyle/>
          <a:p>
            <a:pPr algn="ctr"/>
          </a:p>
        </p:txBody>
      </p:sp>
      <p:sp>
        <p:nvSpPr>
          <p:cNvPr id="73" name="s03-cell-070"/>
          <p:cNvSpPr/>
          <p:nvPr/>
        </p:nvSpPr>
        <p:spPr>
          <a:xfrm>
            <a:off x="2596896" y="3163824"/>
            <a:ext cx="201168" cy="201168"/>
          </a:xfrm>
          <a:prstGeom prst="rect">
            <a:avLst/>
          </a:prstGeom>
          <a:solidFill>
            <a:srgbClr val="0F9ED5"/>
          </a:solidFill>
          <a:ln>
            <a:noFill/>
          </a:ln>
        </p:spPr>
        <p:txBody>
          <a:bodyPr rtlCol="0" anchor="ctr"/>
          <a:lstStyle/>
          <a:p>
            <a:pPr algn="ctr"/>
          </a:p>
        </p:txBody>
      </p:sp>
      <p:sp>
        <p:nvSpPr>
          <p:cNvPr id="74" name="s03-cell-071"/>
          <p:cNvSpPr/>
          <p:nvPr/>
        </p:nvSpPr>
        <p:spPr>
          <a:xfrm>
            <a:off x="457200" y="3401568"/>
            <a:ext cx="201168" cy="201168"/>
          </a:xfrm>
          <a:prstGeom prst="rect">
            <a:avLst/>
          </a:prstGeom>
          <a:solidFill>
            <a:srgbClr val="4EA72E"/>
          </a:solidFill>
          <a:ln>
            <a:noFill/>
          </a:ln>
        </p:spPr>
        <p:txBody>
          <a:bodyPr rtlCol="0" anchor="ctr"/>
          <a:lstStyle/>
          <a:p>
            <a:pPr algn="ctr"/>
          </a:p>
        </p:txBody>
      </p:sp>
      <p:sp>
        <p:nvSpPr>
          <p:cNvPr id="75" name="s03-cell-072"/>
          <p:cNvSpPr/>
          <p:nvPr/>
        </p:nvSpPr>
        <p:spPr>
          <a:xfrm>
            <a:off x="694944" y="3401568"/>
            <a:ext cx="201168" cy="201168"/>
          </a:xfrm>
          <a:prstGeom prst="rect">
            <a:avLst/>
          </a:prstGeom>
          <a:solidFill>
            <a:srgbClr val="4EA72E"/>
          </a:solidFill>
          <a:ln>
            <a:noFill/>
          </a:ln>
        </p:spPr>
        <p:txBody>
          <a:bodyPr rtlCol="0" anchor="ctr"/>
          <a:lstStyle/>
          <a:p>
            <a:pPr algn="ctr"/>
          </a:p>
        </p:txBody>
      </p:sp>
      <p:sp>
        <p:nvSpPr>
          <p:cNvPr id="76" name="s03-cell-073"/>
          <p:cNvSpPr/>
          <p:nvPr/>
        </p:nvSpPr>
        <p:spPr>
          <a:xfrm>
            <a:off x="932688" y="3401568"/>
            <a:ext cx="201168" cy="201168"/>
          </a:xfrm>
          <a:prstGeom prst="rect">
            <a:avLst/>
          </a:prstGeom>
          <a:solidFill>
            <a:srgbClr val="4EA72E"/>
          </a:solidFill>
          <a:ln>
            <a:noFill/>
          </a:ln>
        </p:spPr>
        <p:txBody>
          <a:bodyPr rtlCol="0" anchor="ctr"/>
          <a:lstStyle/>
          <a:p>
            <a:pPr algn="ctr"/>
          </a:p>
        </p:txBody>
      </p:sp>
      <p:sp>
        <p:nvSpPr>
          <p:cNvPr id="77" name="s03-cell-074"/>
          <p:cNvSpPr/>
          <p:nvPr/>
        </p:nvSpPr>
        <p:spPr>
          <a:xfrm>
            <a:off x="1170432" y="3401568"/>
            <a:ext cx="201168" cy="201168"/>
          </a:xfrm>
          <a:prstGeom prst="rect">
            <a:avLst/>
          </a:prstGeom>
          <a:solidFill>
            <a:srgbClr val="4EA72E"/>
          </a:solidFill>
          <a:ln>
            <a:noFill/>
          </a:ln>
        </p:spPr>
        <p:txBody>
          <a:bodyPr rtlCol="0" anchor="ctr"/>
          <a:lstStyle/>
          <a:p>
            <a:pPr algn="ctr"/>
          </a:p>
        </p:txBody>
      </p:sp>
      <p:sp>
        <p:nvSpPr>
          <p:cNvPr id="78" name="s03-cell-075"/>
          <p:cNvSpPr/>
          <p:nvPr/>
        </p:nvSpPr>
        <p:spPr>
          <a:xfrm>
            <a:off x="1408176" y="3401568"/>
            <a:ext cx="201168" cy="201168"/>
          </a:xfrm>
          <a:prstGeom prst="rect">
            <a:avLst/>
          </a:prstGeom>
          <a:solidFill>
            <a:srgbClr val="4EA72E"/>
          </a:solidFill>
          <a:ln>
            <a:noFill/>
          </a:ln>
        </p:spPr>
        <p:txBody>
          <a:bodyPr rtlCol="0" anchor="ctr"/>
          <a:lstStyle/>
          <a:p>
            <a:pPr algn="ctr"/>
          </a:p>
        </p:txBody>
      </p:sp>
      <p:sp>
        <p:nvSpPr>
          <p:cNvPr id="79" name="s03-cell-076"/>
          <p:cNvSpPr/>
          <p:nvPr/>
        </p:nvSpPr>
        <p:spPr>
          <a:xfrm>
            <a:off x="1645920" y="3401568"/>
            <a:ext cx="201168" cy="201168"/>
          </a:xfrm>
          <a:prstGeom prst="rect">
            <a:avLst/>
          </a:prstGeom>
          <a:solidFill>
            <a:srgbClr val="4EA72E"/>
          </a:solidFill>
          <a:ln>
            <a:noFill/>
          </a:ln>
        </p:spPr>
        <p:txBody>
          <a:bodyPr rtlCol="0" anchor="ctr"/>
          <a:lstStyle/>
          <a:p>
            <a:pPr algn="ctr"/>
          </a:p>
        </p:txBody>
      </p:sp>
      <p:sp>
        <p:nvSpPr>
          <p:cNvPr id="80" name="s03-cell-077"/>
          <p:cNvSpPr/>
          <p:nvPr/>
        </p:nvSpPr>
        <p:spPr>
          <a:xfrm>
            <a:off x="1883664" y="3401568"/>
            <a:ext cx="201168" cy="201168"/>
          </a:xfrm>
          <a:prstGeom prst="rect">
            <a:avLst/>
          </a:prstGeom>
          <a:solidFill>
            <a:srgbClr val="4EA72E"/>
          </a:solidFill>
          <a:ln>
            <a:noFill/>
          </a:ln>
        </p:spPr>
        <p:txBody>
          <a:bodyPr rtlCol="0" anchor="ctr"/>
          <a:lstStyle/>
          <a:p>
            <a:pPr algn="ctr"/>
          </a:p>
        </p:txBody>
      </p:sp>
      <p:sp>
        <p:nvSpPr>
          <p:cNvPr id="81" name="s03-cell-078"/>
          <p:cNvSpPr/>
          <p:nvPr/>
        </p:nvSpPr>
        <p:spPr>
          <a:xfrm>
            <a:off x="2121408" y="3401568"/>
            <a:ext cx="201168" cy="201168"/>
          </a:xfrm>
          <a:prstGeom prst="rect">
            <a:avLst/>
          </a:prstGeom>
          <a:solidFill>
            <a:srgbClr val="4EA72E"/>
          </a:solidFill>
          <a:ln>
            <a:noFill/>
          </a:ln>
        </p:spPr>
        <p:txBody>
          <a:bodyPr rtlCol="0" anchor="ctr"/>
          <a:lstStyle/>
          <a:p>
            <a:pPr algn="ctr"/>
          </a:p>
        </p:txBody>
      </p:sp>
      <p:sp>
        <p:nvSpPr>
          <p:cNvPr id="82" name="s03-cell-079"/>
          <p:cNvSpPr/>
          <p:nvPr/>
        </p:nvSpPr>
        <p:spPr>
          <a:xfrm>
            <a:off x="2359152" y="3401568"/>
            <a:ext cx="201168" cy="201168"/>
          </a:xfrm>
          <a:prstGeom prst="rect">
            <a:avLst/>
          </a:prstGeom>
          <a:solidFill>
            <a:srgbClr val="4EA72E"/>
          </a:solidFill>
          <a:ln>
            <a:noFill/>
          </a:ln>
        </p:spPr>
        <p:txBody>
          <a:bodyPr rtlCol="0" anchor="ctr"/>
          <a:lstStyle/>
          <a:p>
            <a:pPr algn="ctr"/>
          </a:p>
        </p:txBody>
      </p:sp>
      <p:sp>
        <p:nvSpPr>
          <p:cNvPr id="83" name="s03-cell-080"/>
          <p:cNvSpPr/>
          <p:nvPr/>
        </p:nvSpPr>
        <p:spPr>
          <a:xfrm>
            <a:off x="2596896" y="3401568"/>
            <a:ext cx="201168" cy="201168"/>
          </a:xfrm>
          <a:prstGeom prst="rect">
            <a:avLst/>
          </a:prstGeom>
          <a:solidFill>
            <a:srgbClr val="4EA72E"/>
          </a:solidFill>
          <a:ln>
            <a:noFill/>
          </a:ln>
        </p:spPr>
        <p:txBody>
          <a:bodyPr rtlCol="0" anchor="ctr"/>
          <a:lstStyle/>
          <a:p>
            <a:pPr algn="ctr"/>
          </a:p>
        </p:txBody>
      </p:sp>
      <p:sp>
        <p:nvSpPr>
          <p:cNvPr id="84" name="s03-cell-081"/>
          <p:cNvSpPr/>
          <p:nvPr/>
        </p:nvSpPr>
        <p:spPr>
          <a:xfrm>
            <a:off x="457200" y="3639312"/>
            <a:ext cx="201168" cy="201168"/>
          </a:xfrm>
          <a:prstGeom prst="rect">
            <a:avLst/>
          </a:prstGeom>
          <a:solidFill>
            <a:srgbClr val="4EA72E"/>
          </a:solidFill>
          <a:ln>
            <a:noFill/>
          </a:ln>
        </p:spPr>
        <p:txBody>
          <a:bodyPr rtlCol="0" anchor="ctr"/>
          <a:lstStyle/>
          <a:p>
            <a:pPr algn="ctr"/>
          </a:p>
        </p:txBody>
      </p:sp>
      <p:sp>
        <p:nvSpPr>
          <p:cNvPr id="85" name="s03-cell-082"/>
          <p:cNvSpPr/>
          <p:nvPr/>
        </p:nvSpPr>
        <p:spPr>
          <a:xfrm>
            <a:off x="694944" y="3639312"/>
            <a:ext cx="201168" cy="201168"/>
          </a:xfrm>
          <a:prstGeom prst="rect">
            <a:avLst/>
          </a:prstGeom>
          <a:solidFill>
            <a:srgbClr val="4EA72E"/>
          </a:solidFill>
          <a:ln>
            <a:noFill/>
          </a:ln>
        </p:spPr>
        <p:txBody>
          <a:bodyPr rtlCol="0" anchor="ctr"/>
          <a:lstStyle/>
          <a:p>
            <a:pPr algn="ctr"/>
          </a:p>
        </p:txBody>
      </p:sp>
      <p:sp>
        <p:nvSpPr>
          <p:cNvPr id="86" name="s03-cell-083"/>
          <p:cNvSpPr/>
          <p:nvPr/>
        </p:nvSpPr>
        <p:spPr>
          <a:xfrm>
            <a:off x="932688" y="3639312"/>
            <a:ext cx="201168" cy="201168"/>
          </a:xfrm>
          <a:prstGeom prst="rect">
            <a:avLst/>
          </a:prstGeom>
          <a:solidFill>
            <a:srgbClr val="4EA72E"/>
          </a:solidFill>
          <a:ln>
            <a:noFill/>
          </a:ln>
        </p:spPr>
        <p:txBody>
          <a:bodyPr rtlCol="0" anchor="ctr"/>
          <a:lstStyle/>
          <a:p>
            <a:pPr algn="ctr"/>
          </a:p>
        </p:txBody>
      </p:sp>
      <p:sp>
        <p:nvSpPr>
          <p:cNvPr id="87" name="s03-cell-084"/>
          <p:cNvSpPr/>
          <p:nvPr/>
        </p:nvSpPr>
        <p:spPr>
          <a:xfrm>
            <a:off x="1170432" y="3639312"/>
            <a:ext cx="201168" cy="201168"/>
          </a:xfrm>
          <a:prstGeom prst="rect">
            <a:avLst/>
          </a:prstGeom>
          <a:solidFill>
            <a:srgbClr val="4EA72E"/>
          </a:solidFill>
          <a:ln>
            <a:noFill/>
          </a:ln>
        </p:spPr>
        <p:txBody>
          <a:bodyPr rtlCol="0" anchor="ctr"/>
          <a:lstStyle/>
          <a:p>
            <a:pPr algn="ctr"/>
          </a:p>
        </p:txBody>
      </p:sp>
      <p:sp>
        <p:nvSpPr>
          <p:cNvPr id="88" name="s03-cell-085"/>
          <p:cNvSpPr/>
          <p:nvPr/>
        </p:nvSpPr>
        <p:spPr>
          <a:xfrm>
            <a:off x="1408176" y="3639312"/>
            <a:ext cx="201168" cy="201168"/>
          </a:xfrm>
          <a:prstGeom prst="rect">
            <a:avLst/>
          </a:prstGeom>
          <a:solidFill>
            <a:srgbClr val="4EA72E"/>
          </a:solidFill>
          <a:ln>
            <a:noFill/>
          </a:ln>
        </p:spPr>
        <p:txBody>
          <a:bodyPr rtlCol="0" anchor="ctr"/>
          <a:lstStyle/>
          <a:p>
            <a:pPr algn="ctr"/>
          </a:p>
        </p:txBody>
      </p:sp>
      <p:sp>
        <p:nvSpPr>
          <p:cNvPr id="89" name="s03-cell-086"/>
          <p:cNvSpPr/>
          <p:nvPr/>
        </p:nvSpPr>
        <p:spPr>
          <a:xfrm>
            <a:off x="1645920" y="3639312"/>
            <a:ext cx="201168" cy="201168"/>
          </a:xfrm>
          <a:prstGeom prst="rect">
            <a:avLst/>
          </a:prstGeom>
          <a:solidFill>
            <a:srgbClr val="4EA72E"/>
          </a:solidFill>
          <a:ln>
            <a:noFill/>
          </a:ln>
        </p:spPr>
        <p:txBody>
          <a:bodyPr rtlCol="0" anchor="ctr"/>
          <a:lstStyle/>
          <a:p>
            <a:pPr algn="ctr"/>
          </a:p>
        </p:txBody>
      </p:sp>
      <p:sp>
        <p:nvSpPr>
          <p:cNvPr id="90" name="s03-cell-087"/>
          <p:cNvSpPr/>
          <p:nvPr/>
        </p:nvSpPr>
        <p:spPr>
          <a:xfrm>
            <a:off x="1883664" y="3639312"/>
            <a:ext cx="201168" cy="201168"/>
          </a:xfrm>
          <a:prstGeom prst="rect">
            <a:avLst/>
          </a:prstGeom>
          <a:solidFill>
            <a:srgbClr val="4EA72E"/>
          </a:solidFill>
          <a:ln>
            <a:noFill/>
          </a:ln>
        </p:spPr>
        <p:txBody>
          <a:bodyPr rtlCol="0" anchor="ctr"/>
          <a:lstStyle/>
          <a:p>
            <a:pPr algn="ctr"/>
          </a:p>
        </p:txBody>
      </p:sp>
      <p:sp>
        <p:nvSpPr>
          <p:cNvPr id="91" name="s03-cell-088"/>
          <p:cNvSpPr/>
          <p:nvPr/>
        </p:nvSpPr>
        <p:spPr>
          <a:xfrm>
            <a:off x="2121408" y="3639312"/>
            <a:ext cx="201168" cy="201168"/>
          </a:xfrm>
          <a:prstGeom prst="rect">
            <a:avLst/>
          </a:prstGeom>
          <a:solidFill>
            <a:srgbClr val="4EA72E"/>
          </a:solidFill>
          <a:ln>
            <a:noFill/>
          </a:ln>
        </p:spPr>
        <p:txBody>
          <a:bodyPr rtlCol="0" anchor="ctr"/>
          <a:lstStyle/>
          <a:p>
            <a:pPr algn="ctr"/>
          </a:p>
        </p:txBody>
      </p:sp>
      <p:sp>
        <p:nvSpPr>
          <p:cNvPr id="92" name="s03-cell-089"/>
          <p:cNvSpPr/>
          <p:nvPr/>
        </p:nvSpPr>
        <p:spPr>
          <a:xfrm>
            <a:off x="2359152" y="3639312"/>
            <a:ext cx="201168" cy="201168"/>
          </a:xfrm>
          <a:prstGeom prst="rect">
            <a:avLst/>
          </a:prstGeom>
          <a:solidFill>
            <a:srgbClr val="4EA72E"/>
          </a:solidFill>
          <a:ln>
            <a:noFill/>
          </a:ln>
        </p:spPr>
        <p:txBody>
          <a:bodyPr rtlCol="0" anchor="ctr"/>
          <a:lstStyle/>
          <a:p>
            <a:pPr algn="ctr"/>
          </a:p>
        </p:txBody>
      </p:sp>
      <p:sp>
        <p:nvSpPr>
          <p:cNvPr id="93" name="s03-cell-090"/>
          <p:cNvSpPr/>
          <p:nvPr/>
        </p:nvSpPr>
        <p:spPr>
          <a:xfrm>
            <a:off x="2596896" y="3639312"/>
            <a:ext cx="201168" cy="201168"/>
          </a:xfrm>
          <a:prstGeom prst="rect">
            <a:avLst/>
          </a:prstGeom>
          <a:solidFill>
            <a:srgbClr val="4EA72E"/>
          </a:solidFill>
          <a:ln>
            <a:noFill/>
          </a:ln>
        </p:spPr>
        <p:txBody>
          <a:bodyPr rtlCol="0" anchor="ctr"/>
          <a:lstStyle/>
          <a:p>
            <a:pPr algn="ctr"/>
          </a:p>
        </p:txBody>
      </p:sp>
      <p:sp>
        <p:nvSpPr>
          <p:cNvPr id="94" name="s03-cell-091"/>
          <p:cNvSpPr/>
          <p:nvPr/>
        </p:nvSpPr>
        <p:spPr>
          <a:xfrm>
            <a:off x="457200" y="3877056"/>
            <a:ext cx="201168" cy="201168"/>
          </a:xfrm>
          <a:prstGeom prst="rect">
            <a:avLst/>
          </a:prstGeom>
          <a:solidFill>
            <a:srgbClr val="4EA72E"/>
          </a:solidFill>
          <a:ln>
            <a:noFill/>
          </a:ln>
        </p:spPr>
        <p:txBody>
          <a:bodyPr rtlCol="0" anchor="ctr"/>
          <a:lstStyle/>
          <a:p>
            <a:pPr algn="ctr"/>
          </a:p>
        </p:txBody>
      </p:sp>
      <p:sp>
        <p:nvSpPr>
          <p:cNvPr id="95" name="s03-cell-092"/>
          <p:cNvSpPr/>
          <p:nvPr/>
        </p:nvSpPr>
        <p:spPr>
          <a:xfrm>
            <a:off x="694944" y="3877056"/>
            <a:ext cx="201168" cy="201168"/>
          </a:xfrm>
          <a:prstGeom prst="rect">
            <a:avLst/>
          </a:prstGeom>
          <a:solidFill>
            <a:srgbClr val="4EA72E"/>
          </a:solidFill>
          <a:ln>
            <a:noFill/>
          </a:ln>
        </p:spPr>
        <p:txBody>
          <a:bodyPr rtlCol="0" anchor="ctr"/>
          <a:lstStyle/>
          <a:p>
            <a:pPr algn="ctr"/>
          </a:p>
        </p:txBody>
      </p:sp>
      <p:sp>
        <p:nvSpPr>
          <p:cNvPr id="96" name="s03-cell-093"/>
          <p:cNvSpPr/>
          <p:nvPr/>
        </p:nvSpPr>
        <p:spPr>
          <a:xfrm>
            <a:off x="932688" y="3877056"/>
            <a:ext cx="201168" cy="201168"/>
          </a:xfrm>
          <a:prstGeom prst="rect">
            <a:avLst/>
          </a:prstGeom>
          <a:solidFill>
            <a:srgbClr val="4EA72E"/>
          </a:solidFill>
          <a:ln>
            <a:noFill/>
          </a:ln>
        </p:spPr>
        <p:txBody>
          <a:bodyPr rtlCol="0" anchor="ctr"/>
          <a:lstStyle/>
          <a:p>
            <a:pPr algn="ctr"/>
          </a:p>
        </p:txBody>
      </p:sp>
      <p:sp>
        <p:nvSpPr>
          <p:cNvPr id="97" name="s03-cell-094"/>
          <p:cNvSpPr/>
          <p:nvPr/>
        </p:nvSpPr>
        <p:spPr>
          <a:xfrm>
            <a:off x="1170432" y="3877056"/>
            <a:ext cx="201168" cy="201168"/>
          </a:xfrm>
          <a:prstGeom prst="rect">
            <a:avLst/>
          </a:prstGeom>
          <a:solidFill>
            <a:srgbClr val="4EA72E"/>
          </a:solidFill>
          <a:ln>
            <a:noFill/>
          </a:ln>
        </p:spPr>
        <p:txBody>
          <a:bodyPr rtlCol="0" anchor="ctr"/>
          <a:lstStyle/>
          <a:p>
            <a:pPr algn="ctr"/>
          </a:p>
        </p:txBody>
      </p:sp>
      <p:sp>
        <p:nvSpPr>
          <p:cNvPr id="98" name="s03-cell-095"/>
          <p:cNvSpPr/>
          <p:nvPr/>
        </p:nvSpPr>
        <p:spPr>
          <a:xfrm>
            <a:off x="1408176" y="3877056"/>
            <a:ext cx="201168" cy="201168"/>
          </a:xfrm>
          <a:prstGeom prst="rect">
            <a:avLst/>
          </a:prstGeom>
          <a:solidFill>
            <a:srgbClr val="4EA72E"/>
          </a:solidFill>
          <a:ln>
            <a:noFill/>
          </a:ln>
        </p:spPr>
        <p:txBody>
          <a:bodyPr rtlCol="0" anchor="ctr"/>
          <a:lstStyle/>
          <a:p>
            <a:pPr algn="ctr"/>
          </a:p>
        </p:txBody>
      </p:sp>
      <p:sp>
        <p:nvSpPr>
          <p:cNvPr id="99" name="s03-cell-096"/>
          <p:cNvSpPr/>
          <p:nvPr/>
        </p:nvSpPr>
        <p:spPr>
          <a:xfrm>
            <a:off x="1645920" y="3877056"/>
            <a:ext cx="201168" cy="201168"/>
          </a:xfrm>
          <a:prstGeom prst="rect">
            <a:avLst/>
          </a:prstGeom>
          <a:solidFill>
            <a:srgbClr val="4EA72E"/>
          </a:solidFill>
          <a:ln>
            <a:noFill/>
          </a:ln>
        </p:spPr>
        <p:txBody>
          <a:bodyPr rtlCol="0" anchor="ctr"/>
          <a:lstStyle/>
          <a:p>
            <a:pPr algn="ctr"/>
          </a:p>
        </p:txBody>
      </p:sp>
      <p:sp>
        <p:nvSpPr>
          <p:cNvPr id="100" name="s03-cell-097"/>
          <p:cNvSpPr/>
          <p:nvPr/>
        </p:nvSpPr>
        <p:spPr>
          <a:xfrm>
            <a:off x="1883664" y="3877056"/>
            <a:ext cx="201168" cy="201168"/>
          </a:xfrm>
          <a:prstGeom prst="rect">
            <a:avLst/>
          </a:prstGeom>
          <a:solidFill>
            <a:srgbClr val="4EA72E"/>
          </a:solidFill>
          <a:ln>
            <a:noFill/>
          </a:ln>
        </p:spPr>
        <p:txBody>
          <a:bodyPr rtlCol="0" anchor="ctr"/>
          <a:lstStyle/>
          <a:p>
            <a:pPr algn="ctr"/>
          </a:p>
        </p:txBody>
      </p:sp>
      <p:sp>
        <p:nvSpPr>
          <p:cNvPr id="101" name="s03-cell-098"/>
          <p:cNvSpPr/>
          <p:nvPr/>
        </p:nvSpPr>
        <p:spPr>
          <a:xfrm>
            <a:off x="2121408" y="3877056"/>
            <a:ext cx="201168" cy="201168"/>
          </a:xfrm>
          <a:prstGeom prst="rect">
            <a:avLst/>
          </a:prstGeom>
          <a:solidFill>
            <a:srgbClr val="4EA72E"/>
          </a:solidFill>
          <a:ln>
            <a:noFill/>
          </a:ln>
        </p:spPr>
        <p:txBody>
          <a:bodyPr rtlCol="0" anchor="ctr"/>
          <a:lstStyle/>
          <a:p>
            <a:pPr algn="ctr"/>
          </a:p>
        </p:txBody>
      </p:sp>
      <p:sp>
        <p:nvSpPr>
          <p:cNvPr id="102" name="s03-cell-099"/>
          <p:cNvSpPr/>
          <p:nvPr/>
        </p:nvSpPr>
        <p:spPr>
          <a:xfrm>
            <a:off x="2359152" y="3877056"/>
            <a:ext cx="201168" cy="201168"/>
          </a:xfrm>
          <a:prstGeom prst="rect">
            <a:avLst/>
          </a:prstGeom>
          <a:solidFill>
            <a:srgbClr val="4EA72E"/>
          </a:solidFill>
          <a:ln>
            <a:noFill/>
          </a:ln>
        </p:spPr>
        <p:txBody>
          <a:bodyPr rtlCol="0" anchor="ctr"/>
          <a:lstStyle/>
          <a:p>
            <a:pPr algn="ctr"/>
          </a:p>
        </p:txBody>
      </p:sp>
      <p:sp>
        <p:nvSpPr>
          <p:cNvPr id="103" name="s03-cell-100"/>
          <p:cNvSpPr/>
          <p:nvPr/>
        </p:nvSpPr>
        <p:spPr>
          <a:xfrm>
            <a:off x="2596896" y="3877056"/>
            <a:ext cx="201168" cy="201168"/>
          </a:xfrm>
          <a:prstGeom prst="rect">
            <a:avLst/>
          </a:prstGeom>
          <a:solidFill>
            <a:srgbClr val="4EA72E"/>
          </a:solidFill>
          <a:ln>
            <a:noFill/>
          </a:ln>
        </p:spPr>
        <p:txBody>
          <a:bodyPr rtlCol="0" anchor="ctr"/>
          <a:lstStyle/>
          <a:p>
            <a:pPr algn="ctr"/>
          </a:p>
        </p:txBody>
      </p:sp>
      <p:sp>
        <p:nvSpPr>
          <p:cNvPr id="104" name="s03-legend-ondemand"/>
          <p:cNvSpPr/>
          <p:nvPr/>
        </p:nvSpPr>
        <p:spPr>
          <a:xfrm>
            <a:off x="457200" y="4206240"/>
            <a:ext cx="4023360" cy="411480"/>
          </a:xfrm>
          <a:prstGeom prst="rect">
            <a:avLst/>
          </a:prstGeom>
          <a:noFill/>
          <a:ln>
            <a:noFill/>
          </a:ln>
        </p:spPr>
        <p:txBody>
          <a:bodyPr rtlCol="0" anchor="ctr" wrap="square"/>
          <a:lstStyle/>
          <a:p>
            <a:pPr algn="l"/>
            <a:r>
              <a:rPr sz="2000" b="1" lang="vi-VN">
                <a:solidFill>
                  <a:srgbClr val="0F9ED5"/>
                </a:solidFill>
                <a:latin typeface="Arial"/>
              </a:rPr>
              <a:t>70 ô: bán đủ giá (On-Demand)</a:t>
            </a:r>
          </a:p>
        </p:txBody>
      </p:sp>
      <p:sp>
        <p:nvSpPr>
          <p:cNvPr id="105" name="s03-legend-spot"/>
          <p:cNvSpPr/>
          <p:nvPr/>
        </p:nvSpPr>
        <p:spPr>
          <a:xfrm>
            <a:off x="457200" y="4663440"/>
            <a:ext cx="4023360" cy="411480"/>
          </a:xfrm>
          <a:prstGeom prst="rect">
            <a:avLst/>
          </a:prstGeom>
          <a:noFill/>
          <a:ln>
            <a:noFill/>
          </a:ln>
        </p:spPr>
        <p:txBody>
          <a:bodyPr rtlCol="0" anchor="ctr" wrap="square"/>
          <a:lstStyle/>
          <a:p>
            <a:pPr algn="l"/>
            <a:r>
              <a:rPr sz="2000" b="1" lang="vi-VN">
                <a:solidFill>
                  <a:srgbClr val="4EA72E"/>
                </a:solidFill>
                <a:latin typeface="Arial"/>
              </a:rPr>
              <a:t>30 ô: giảm giá (Spot)</a:t>
            </a:r>
          </a:p>
        </p:txBody>
      </p:sp>
      <p:sp>
        <p:nvSpPr>
          <p:cNvPr id="106" name="s03-badge-discount"/>
          <p:cNvSpPr/>
          <p:nvPr/>
        </p:nvSpPr>
        <p:spPr>
          <a:xfrm>
            <a:off x="4754880" y="1737360"/>
            <a:ext cx="3474720" cy="1737360"/>
          </a:xfrm>
          <a:prstGeom prst="roundRect">
            <a:avLst>
              <a:gd name="adj" fmla="val 8000"/>
            </a:avLst>
          </a:prstGeom>
          <a:solidFill>
            <a:srgbClr val="4EA72E"/>
          </a:solidFill>
          <a:ln>
            <a:noFill/>
          </a:ln>
        </p:spPr>
        <p:txBody>
          <a:bodyPr rtlCol="0" anchor="ctr" wrap="square"/>
          <a:lstStyle/>
          <a:p>
            <a:pPr algn="ctr"/>
            <a:r>
              <a:rPr sz="3400" b="1" lang="vi-VN">
                <a:solidFill>
                  <a:srgbClr val="08041B"/>
                </a:solidFill>
                <a:latin typeface="Arial"/>
              </a:rPr>
              <a:t>Giảm 50-70%</a:t>
            </a:r>
          </a:p>
          <a:p>
            <a:pPr algn="ctr"/>
            <a:r>
              <a:rPr sz="2000" b="0" lang="vi-VN">
                <a:solidFill>
                  <a:srgbClr val="08041B"/>
                </a:solidFill>
                <a:latin typeface="Arial"/>
              </a:rPr>
              <a:t>AWS: điển hình, tới ~90%</a:t>
            </a:r>
          </a:p>
        </p:txBody>
      </p:sp>
      <p:sp>
        <p:nvSpPr>
          <p:cNvPr id="107" name="s03-badge-clock"/>
          <p:cNvSpPr/>
          <p:nvPr/>
        </p:nvSpPr>
        <p:spPr>
          <a:xfrm>
            <a:off x="8412480" y="1737360"/>
            <a:ext cx="3291840" cy="1737360"/>
          </a:xfrm>
          <a:prstGeom prst="roundRect">
            <a:avLst>
              <a:gd name="adj" fmla="val 8000"/>
            </a:avLst>
          </a:prstGeom>
          <a:solidFill>
            <a:srgbClr val="FCA019"/>
          </a:solidFill>
          <a:ln>
            <a:noFill/>
          </a:ln>
        </p:spPr>
        <p:txBody>
          <a:bodyPr rtlCol="0" anchor="ctr" wrap="square"/>
          <a:lstStyle/>
          <a:p>
            <a:pPr algn="ctr"/>
            <a:r>
              <a:rPr sz="3400" b="1" lang="vi-VN">
                <a:solidFill>
                  <a:srgbClr val="08041B"/>
                </a:solidFill>
                <a:latin typeface="Arial"/>
              </a:rPr>
              <a:t>2 phút</a:t>
            </a:r>
          </a:p>
          <a:p>
            <a:pPr algn="ctr"/>
            <a:r>
              <a:rPr sz="2000" b="0" lang="vi-VN">
                <a:solidFill>
                  <a:srgbClr val="08041B"/>
                </a:solidFill>
                <a:latin typeface="Arial"/>
              </a:rPr>
              <a:t>báo trước khi bị thu hồi</a:t>
            </a:r>
          </a:p>
        </p:txBody>
      </p:sp>
      <p:sp>
        <p:nvSpPr>
          <p:cNvPr id="108" name="s03-analogy"/>
          <p:cNvSpPr/>
          <p:nvPr/>
        </p:nvSpPr>
        <p:spPr>
          <a:xfrm>
            <a:off x="4754880" y="3749039"/>
            <a:ext cx="6949440" cy="1371600"/>
          </a:xfrm>
          <a:prstGeom prst="rect">
            <a:avLst/>
          </a:prstGeom>
          <a:noFill/>
          <a:ln>
            <a:noFill/>
          </a:ln>
        </p:spPr>
        <p:txBody>
          <a:bodyPr rtlCol="0" anchor="ctr" wrap="square"/>
          <a:lstStyle/>
          <a:p>
            <a:pPr algn="l"/>
            <a:r>
              <a:rPr sz="2200" b="0" lang="vi-VN">
                <a:solidFill>
                  <a:srgbClr val="FFFFFF"/>
                </a:solidFill>
                <a:latin typeface="Arial"/>
              </a:rPr>
              <a:t>Như taxi còn trống chạy giá rẻ: nhưng có thể bị gọi về bất cứ lúc nào.</a:t>
            </a:r>
          </a:p>
        </p:txBody>
      </p:sp>
      <p:sp>
        <p:nvSpPr>
          <p:cNvPr id="109" name="s03-footnote"/>
          <p:cNvSpPr/>
          <p:nvPr/>
        </p:nvSpPr>
        <p:spPr>
          <a:xfrm>
            <a:off x="457200" y="5532120"/>
            <a:ext cx="11247120" cy="457200"/>
          </a:xfrm>
          <a:prstGeom prst="rect">
            <a:avLst/>
          </a:prstGeom>
          <a:noFill/>
          <a:ln>
            <a:noFill/>
          </a:ln>
        </p:spPr>
        <p:txBody>
          <a:bodyPr rtlCol="0" anchor="ctr" wrap="square"/>
          <a:lstStyle/>
          <a:p>
            <a:pPr algn="l"/>
            <a:r>
              <a:rPr sz="1200" b="0" lang="vi-VN">
                <a:solidFill>
                  <a:srgbClr val="E6E4F5"/>
                </a:solidFill>
                <a:latin typeface="Arial"/>
              </a:rPr>
              <a:t>Snapshot ap-southeast-1, 2026-10-20: Spot thấp hơn On-Demand khoảng 54-67% (giá list, ước tính). Nguồn: trang AWS Spot, snapshot của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Workload nào hợp với Spot?</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Câu hỏi: nếu node bị tắt ngay bây giờ, chuyện gì xảy ra?</a:t>
            </a:r>
          </a:p>
        </p:txBody>
      </p:sp>
      <p:sp>
        <p:nvSpPr>
          <p:cNvPr id="4" name="s04-fit-body"/>
          <p:cNvSpPr/>
          <p:nvPr/>
        </p:nvSpPr>
        <p:spPr>
          <a:xfrm>
            <a:off x="457200" y="2286000"/>
            <a:ext cx="5486400" cy="2194560"/>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800" b="0" lang="vi-VN">
                <a:solidFill>
                  <a:srgbClr val="FFFFFF"/>
                </a:solidFill>
                <a:latin typeface="Arial"/>
              </a:rPr>
              <a:t>• Web không giữ trạng thái</a:t>
            </a:r>
          </a:p>
          <a:p>
            <a:pPr algn="l">
              <a:spcAft>
                <a:spcPts val="400"/>
              </a:spcAft>
            </a:pPr>
            <a:r>
              <a:rPr sz="2800" b="0" lang="vi-VN">
                <a:solidFill>
                  <a:srgbClr val="FFFFFF"/>
                </a:solidFill>
                <a:latin typeface="Arial"/>
              </a:rPr>
              <a:t>• Worker / hàng đợi</a:t>
            </a:r>
          </a:p>
          <a:p>
            <a:pPr algn="l">
              <a:spcAft>
                <a:spcPts val="400"/>
              </a:spcAft>
            </a:pPr>
            <a:r>
              <a:rPr sz="2800" b="0" lang="vi-VN">
                <a:solidFill>
                  <a:srgbClr val="FFFFFF"/>
                </a:solidFill>
                <a:latin typeface="Arial"/>
              </a:rPr>
              <a:t>• Batch, CI</a:t>
            </a:r>
          </a:p>
        </p:txBody>
      </p:sp>
      <p:sp>
        <p:nvSpPr>
          <p:cNvPr id="5" name="s04-fit-head"/>
          <p:cNvSpPr/>
          <p:nvPr/>
        </p:nvSpPr>
        <p:spPr>
          <a:xfrm>
            <a:off x="457200" y="1737360"/>
            <a:ext cx="5486400" cy="548640"/>
          </a:xfrm>
          <a:prstGeom prst="rect">
            <a:avLst/>
          </a:prstGeom>
          <a:solidFill>
            <a:srgbClr val="4EA72E"/>
          </a:solidFill>
          <a:ln>
            <a:noFill/>
          </a:ln>
        </p:spPr>
        <p:txBody>
          <a:bodyPr rtlCol="0" anchor="ctr" wrap="square" lIns="137160" rIns="137160"/>
          <a:lstStyle/>
          <a:p>
            <a:pPr algn="l"/>
            <a:r>
              <a:rPr sz="2400" b="1" lang="vi-VN">
                <a:solidFill>
                  <a:srgbClr val="08041B"/>
                </a:solidFill>
                <a:latin typeface="Arial"/>
              </a:rPr>
              <a:t>Hợp với Spot</a:t>
            </a:r>
          </a:p>
        </p:txBody>
      </p:sp>
      <p:sp>
        <p:nvSpPr>
          <p:cNvPr id="6" name="s04-nofit-body"/>
          <p:cNvSpPr/>
          <p:nvPr/>
        </p:nvSpPr>
        <p:spPr>
          <a:xfrm>
            <a:off x="6217920" y="2286000"/>
            <a:ext cx="5486400" cy="2194560"/>
          </a:xfrm>
          <a:prstGeom prst="rect">
            <a:avLst/>
          </a:prstGeom>
          <a:solidFill>
            <a:srgbClr val="17132E"/>
          </a:solidFill>
          <a:ln w="19050">
            <a:solidFill>
              <a:srgbClr val="E97132"/>
            </a:solidFill>
          </a:ln>
        </p:spPr>
        <p:txBody>
          <a:bodyPr rtlCol="0" anchor="t" wrap="square" lIns="137160" rIns="137160"/>
          <a:lstStyle/>
          <a:p>
            <a:pPr algn="l">
              <a:spcAft>
                <a:spcPts val="400"/>
              </a:spcAft>
            </a:pPr>
            <a:r>
              <a:rPr sz="2800" b="0" lang="vi-VN">
                <a:solidFill>
                  <a:srgbClr val="FFFFFF"/>
                </a:solidFill>
                <a:latin typeface="Arial"/>
              </a:rPr>
              <a:t>• Database một bản</a:t>
            </a:r>
          </a:p>
          <a:p>
            <a:pPr algn="l">
              <a:spcAft>
                <a:spcPts val="400"/>
              </a:spcAft>
            </a:pPr>
            <a:r>
              <a:rPr sz="2800" b="0" lang="vi-VN">
                <a:solidFill>
                  <a:srgbClr val="FFFFFF"/>
                </a:solidFill>
                <a:latin typeface="Arial"/>
              </a:rPr>
              <a:t>• Việc không thể làm lại</a:t>
            </a:r>
          </a:p>
          <a:p>
            <a:pPr algn="l">
              <a:spcAft>
                <a:spcPts val="400"/>
              </a:spcAft>
            </a:pPr>
            <a:r>
              <a:rPr sz="2800" b="0" lang="vi-VN">
                <a:solidFill>
                  <a:srgbClr val="FFFFFF"/>
                </a:solidFill>
                <a:latin typeface="Arial"/>
              </a:rPr>
              <a:t>• Node hệ thống</a:t>
            </a:r>
          </a:p>
        </p:txBody>
      </p:sp>
      <p:sp>
        <p:nvSpPr>
          <p:cNvPr id="7" name="s04-nofit-head"/>
          <p:cNvSpPr/>
          <p:nvPr/>
        </p:nvSpPr>
        <p:spPr>
          <a:xfrm>
            <a:off x="6217920" y="1737360"/>
            <a:ext cx="5486400" cy="548640"/>
          </a:xfrm>
          <a:prstGeom prst="rect">
            <a:avLst/>
          </a:prstGeom>
          <a:solidFill>
            <a:srgbClr val="E97132"/>
          </a:solidFill>
          <a:ln>
            <a:noFill/>
          </a:ln>
        </p:spPr>
        <p:txBody>
          <a:bodyPr rtlCol="0" anchor="ctr" wrap="square" lIns="137160" rIns="137160"/>
          <a:lstStyle/>
          <a:p>
            <a:pPr algn="l"/>
            <a:r>
              <a:rPr sz="2400" b="1" lang="vi-VN">
                <a:solidFill>
                  <a:srgbClr val="08041B"/>
                </a:solidFill>
                <a:latin typeface="Arial"/>
              </a:rPr>
              <a:t>Không hợp</a:t>
            </a:r>
          </a:p>
        </p:txBody>
      </p:sp>
      <p:sp>
        <p:nvSpPr>
          <p:cNvPr id="8" name="s04-banner"/>
          <p:cNvSpPr/>
          <p:nvPr/>
        </p:nvSpPr>
        <p:spPr>
          <a:xfrm>
            <a:off x="457200" y="4754880"/>
            <a:ext cx="11247120" cy="822960"/>
          </a:xfrm>
          <a:prstGeom prst="roundRect">
            <a:avLst>
              <a:gd name="adj" fmla="val 8000"/>
            </a:avLst>
          </a:prstGeom>
          <a:solidFill>
            <a:srgbClr val="FCA019"/>
          </a:solidFill>
          <a:ln>
            <a:noFill/>
          </a:ln>
        </p:spPr>
        <p:txBody>
          <a:bodyPr rtlCol="0" anchor="ctr" wrap="square"/>
          <a:lstStyle/>
          <a:p>
            <a:pPr algn="ctr"/>
            <a:r>
              <a:rPr sz="2400" b="1" lang="vi-VN">
                <a:solidFill>
                  <a:srgbClr val="08041B"/>
                </a:solidFill>
                <a:latin typeface="Arial"/>
              </a:rPr>
              <a:t>Cái gì có thể hỏng thì sẽ hỏng: hãy rút dây điện thử trước.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0857" y="2011680"/>
            <a:ext cx="5760720" cy="1371600"/>
          </a:xfrm>
        </p:spPr>
        <p:txBody>
          <a:bodyPr wrap="square" anchor="b"/>
          <a:lstStyle/>
          <a:p>
            <a:pPr algn="l" marL="0" indent="0">
              <a:buNone/>
            </a:pPr>
            <a:r>
              <a:rPr sz="3600" b="1" lang="vi-VN">
                <a:solidFill>
                  <a:srgbClr val="FFFFFF"/>
                </a:solidFill>
                <a:latin typeface="Arial"/>
              </a:rPr>
              <a:t>Cluster hết chỗ:</a:t>
            </a:r>
          </a:p>
          <a:p>
            <a:pPr algn="l" marL="0" indent="0">
              <a:buNone/>
            </a:pPr>
            <a:r>
              <a:rPr sz="3600" b="1" lang="vi-VN">
                <a:solidFill>
                  <a:srgbClr val="FFFFFF"/>
                </a:solidFill>
                <a:latin typeface="Arial"/>
              </a:rPr>
              <a:t>Pod Pending</a:t>
            </a:r>
          </a:p>
        </p:txBody>
      </p:sp>
      <p:sp>
        <p:nvSpPr>
          <p:cNvPr id="3" name="Text Placeholder 2"/>
          <p:cNvSpPr>
            <a:spLocks noGrp="1"/>
          </p:cNvSpPr>
          <p:nvPr>
            <p:ph type="body" idx="1"/>
          </p:nvPr>
        </p:nvSpPr>
        <p:spPr>
          <a:xfrm>
            <a:off x="457200" y="3520440"/>
            <a:ext cx="5486400" cy="914400"/>
          </a:xfrm>
        </p:spPr>
        <p:txBody>
          <a:bodyPr wrap="square"/>
          <a:lstStyle/>
          <a:p>
            <a:pPr algn="l" marL="0" indent="0">
              <a:buNone/>
            </a:pPr>
            <a:r>
              <a:rPr sz="2200" b="0" lang="vi-VN">
                <a:solidFill>
                  <a:srgbClr val="E6E4F5"/>
                </a:solidFill>
                <a:latin typeface="Arial"/>
              </a:rPr>
              <a:t>Pod đã xin máy, nhưng chưa ai thêm máy cho nó.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3 cách thêm node cho EKS</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Cả ba thêm node khi có Pod Pending. Khác nhau ở cách làm.</a:t>
            </a:r>
          </a:p>
        </p:txBody>
      </p:sp>
      <p:sp>
        <p:nvSpPr>
          <p:cNvPr id="4" name="s06-card-1-body"/>
          <p:cNvSpPr/>
          <p:nvPr/>
        </p:nvSpPr>
        <p:spPr>
          <a:xfrm>
            <a:off x="457200" y="2377439"/>
            <a:ext cx="3611880" cy="2377439"/>
          </a:xfrm>
          <a:prstGeom prst="rect">
            <a:avLst/>
          </a:prstGeom>
          <a:solidFill>
            <a:srgbClr val="17132E"/>
          </a:solidFill>
          <a:ln w="19050">
            <a:solidFill>
              <a:srgbClr val="0F9ED5"/>
            </a:solidFill>
          </a:ln>
        </p:spPr>
        <p:txBody>
          <a:bodyPr rtlCol="0" anchor="t" wrap="square" lIns="137160" rIns="137160"/>
          <a:lstStyle/>
          <a:p>
            <a:pPr algn="l">
              <a:spcAft>
                <a:spcPts val="400"/>
              </a:spcAft>
            </a:pPr>
            <a:r>
              <a:rPr sz="2200" b="0" lang="vi-VN">
                <a:solidFill>
                  <a:srgbClr val="FFFFFF"/>
                </a:solidFill>
                <a:latin typeface="Arial"/>
              </a:rPr>
              <a:t>Pod Pending → Auto Scaling Group → node group → node</a:t>
            </a:r>
          </a:p>
          <a:p>
            <a:pPr algn="l">
              <a:spcAft>
                <a:spcPts val="400"/>
              </a:spcAft>
            </a:pPr>
            <a:r>
              <a:rPr sz="2200" b="0" lang="vi-VN">
                <a:solidFill>
                  <a:srgbClr val="FFFFFF"/>
                </a:solidFill>
                <a:latin typeface="Arial"/>
              </a:rPr>
              <a:t>Loại máy cố định theo node group</a:t>
            </a:r>
          </a:p>
        </p:txBody>
      </p:sp>
      <p:sp>
        <p:nvSpPr>
          <p:cNvPr id="5" name="s06-card-1-head"/>
          <p:cNvSpPr/>
          <p:nvPr/>
        </p:nvSpPr>
        <p:spPr>
          <a:xfrm>
            <a:off x="457200" y="1737360"/>
            <a:ext cx="3611880" cy="640080"/>
          </a:xfrm>
          <a:prstGeom prst="rect">
            <a:avLst/>
          </a:prstGeom>
          <a:solidFill>
            <a:srgbClr val="0F9ED5"/>
          </a:solidFill>
          <a:ln>
            <a:noFill/>
          </a:ln>
        </p:spPr>
        <p:txBody>
          <a:bodyPr rtlCol="0" anchor="ctr" wrap="square" lIns="137160" rIns="137160"/>
          <a:lstStyle/>
          <a:p>
            <a:pPr algn="l"/>
            <a:r>
              <a:rPr sz="2400" b="1" lang="vi-VN">
                <a:solidFill>
                  <a:srgbClr val="08041B"/>
                </a:solidFill>
                <a:latin typeface="Arial"/>
              </a:rPr>
              <a:t>Cluster Autoscaler</a:t>
            </a:r>
          </a:p>
        </p:txBody>
      </p:sp>
      <p:sp>
        <p:nvSpPr>
          <p:cNvPr id="6" name="s06-card-2-body"/>
          <p:cNvSpPr/>
          <p:nvPr/>
        </p:nvSpPr>
        <p:spPr>
          <a:xfrm>
            <a:off x="4279392" y="2377439"/>
            <a:ext cx="3611880" cy="2377439"/>
          </a:xfrm>
          <a:prstGeom prst="rect">
            <a:avLst/>
          </a:prstGeom>
          <a:solidFill>
            <a:srgbClr val="17132E"/>
          </a:solidFill>
          <a:ln w="19050">
            <a:solidFill>
              <a:srgbClr val="FCA019"/>
            </a:solidFill>
          </a:ln>
        </p:spPr>
        <p:txBody>
          <a:bodyPr rtlCol="0" anchor="t" wrap="square" lIns="137160" rIns="137160"/>
          <a:lstStyle/>
          <a:p>
            <a:pPr algn="l">
              <a:spcAft>
                <a:spcPts val="400"/>
              </a:spcAft>
            </a:pPr>
            <a:r>
              <a:rPr sz="2200" b="0" lang="vi-VN">
                <a:solidFill>
                  <a:srgbClr val="FFFFFF"/>
                </a:solidFill>
                <a:latin typeface="Arial"/>
              </a:rPr>
              <a:t>Pod Pending → EC2 Fleet API → node</a:t>
            </a:r>
          </a:p>
          <a:p>
            <a:pPr algn="l">
              <a:spcAft>
                <a:spcPts val="400"/>
              </a:spcAft>
            </a:pPr>
            <a:r>
              <a:rPr sz="2200" b="0" lang="vi-VN">
                <a:solidFill>
                  <a:srgbClr val="FFFFFF"/>
                </a:solidFill>
                <a:latin typeface="Arial"/>
              </a:rPr>
              <a:t>Chọn máy vừa đủ theo nhu cầu Pod</a:t>
            </a:r>
          </a:p>
        </p:txBody>
      </p:sp>
      <p:sp>
        <p:nvSpPr>
          <p:cNvPr id="7" name="s06-card-2-head"/>
          <p:cNvSpPr/>
          <p:nvPr/>
        </p:nvSpPr>
        <p:spPr>
          <a:xfrm>
            <a:off x="4279392" y="1737360"/>
            <a:ext cx="3611880" cy="640080"/>
          </a:xfrm>
          <a:prstGeom prst="rect">
            <a:avLst/>
          </a:prstGeom>
          <a:solidFill>
            <a:srgbClr val="FCA019"/>
          </a:solidFill>
          <a:ln>
            <a:noFill/>
          </a:ln>
        </p:spPr>
        <p:txBody>
          <a:bodyPr rtlCol="0" anchor="ctr" wrap="square" lIns="137160" rIns="137160"/>
          <a:lstStyle/>
          <a:p>
            <a:pPr algn="l"/>
            <a:r>
              <a:rPr sz="2400" b="1" lang="vi-VN">
                <a:solidFill>
                  <a:srgbClr val="08041B"/>
                </a:solidFill>
                <a:latin typeface="Arial"/>
              </a:rPr>
              <a:t>Karpenter</a:t>
            </a:r>
          </a:p>
        </p:txBody>
      </p:sp>
      <p:sp>
        <p:nvSpPr>
          <p:cNvPr id="8" name="s06-card-3-body"/>
          <p:cNvSpPr/>
          <p:nvPr/>
        </p:nvSpPr>
        <p:spPr>
          <a:xfrm>
            <a:off x="8101583" y="2377439"/>
            <a:ext cx="3611880" cy="2377439"/>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200" b="0" lang="vi-VN">
                <a:solidFill>
                  <a:srgbClr val="FFFFFF"/>
                </a:solidFill>
                <a:latin typeface="Arial"/>
              </a:rPr>
              <a:t>Karpenter do AWS vận hành</a:t>
            </a:r>
          </a:p>
          <a:p>
            <a:pPr algn="l">
              <a:spcAft>
                <a:spcPts val="400"/>
              </a:spcAft>
            </a:pPr>
            <a:r>
              <a:rPr sz="2200" b="0" lang="vi-VN">
                <a:solidFill>
                  <a:srgbClr val="FFFFFF"/>
                </a:solidFill>
                <a:latin typeface="Arial"/>
              </a:rPr>
              <a:t>Có phí quản lý ≈12% giá On-Demand</a:t>
            </a:r>
          </a:p>
        </p:txBody>
      </p:sp>
      <p:sp>
        <p:nvSpPr>
          <p:cNvPr id="9" name="s06-card-3-head"/>
          <p:cNvSpPr/>
          <p:nvPr/>
        </p:nvSpPr>
        <p:spPr>
          <a:xfrm>
            <a:off x="8101583" y="1737360"/>
            <a:ext cx="3611880" cy="640080"/>
          </a:xfrm>
          <a:prstGeom prst="rect">
            <a:avLst/>
          </a:prstGeom>
          <a:solidFill>
            <a:srgbClr val="4EA72E"/>
          </a:solidFill>
          <a:ln>
            <a:noFill/>
          </a:ln>
        </p:spPr>
        <p:txBody>
          <a:bodyPr rtlCol="0" anchor="ctr" wrap="square" lIns="137160" rIns="137160"/>
          <a:lstStyle/>
          <a:p>
            <a:pPr algn="l"/>
            <a:r>
              <a:rPr sz="2400" b="1" lang="vi-VN">
                <a:solidFill>
                  <a:srgbClr val="08041B"/>
                </a:solidFill>
                <a:latin typeface="Arial"/>
              </a:rPr>
              <a:t>EKS Auto Mode</a:t>
            </a:r>
          </a:p>
        </p:txBody>
      </p:sp>
      <p:sp>
        <p:nvSpPr>
          <p:cNvPr id="10" name="s06-footnote"/>
          <p:cNvSpPr/>
          <p:nvPr/>
        </p:nvSpPr>
        <p:spPr>
          <a:xfrm>
            <a:off x="457200" y="5532120"/>
            <a:ext cx="11247120" cy="457200"/>
          </a:xfrm>
          <a:prstGeom prst="rect">
            <a:avLst/>
          </a:prstGeom>
          <a:noFill/>
          <a:ln>
            <a:noFill/>
          </a:ln>
        </p:spPr>
        <p:txBody>
          <a:bodyPr rtlCol="0" anchor="ctr" wrap="square"/>
          <a:lstStyle/>
          <a:p>
            <a:pPr algn="l"/>
            <a:r>
              <a:rPr sz="1200" b="0" lang="vi-VN">
                <a:solidFill>
                  <a:srgbClr val="E6E4F5"/>
                </a:solidFill>
                <a:latin typeface="Arial"/>
              </a:rPr>
              <a:t>Phí Auto Mode: ước tính theo giá list ngày 2026-10-20. Trong demo, "kube net auto scaler" được hiểu là EKS Auto Mode.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Karpenter hoạt động thế nào</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Hai mảnh cấu hình, bốn bước, một hàng đợi cảnh báo.</a:t>
            </a:r>
          </a:p>
        </p:txBody>
      </p:sp>
      <p:sp>
        <p:nvSpPr>
          <p:cNvPr id="4" name="s07-step-1"/>
          <p:cNvSpPr/>
          <p:nvPr/>
        </p:nvSpPr>
        <p:spPr>
          <a:xfrm>
            <a:off x="457200" y="169164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1  Thấy Pod Pending</a:t>
            </a:r>
          </a:p>
        </p:txBody>
      </p:sp>
      <p:sp>
        <p:nvSpPr>
          <p:cNvPr id="5" name="s07-step-2"/>
          <p:cNvSpPr/>
          <p:nvPr/>
        </p:nvSpPr>
        <p:spPr>
          <a:xfrm>
            <a:off x="457200" y="246888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2  Chọn máy vừa đủ</a:t>
            </a:r>
          </a:p>
        </p:txBody>
      </p:sp>
      <p:sp>
        <p:nvSpPr>
          <p:cNvPr id="6" name="s07-step-3"/>
          <p:cNvSpPr/>
          <p:nvPr/>
        </p:nvSpPr>
        <p:spPr>
          <a:xfrm>
            <a:off x="457200" y="324612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3  Gọi EC2 Fleet API</a:t>
            </a:r>
          </a:p>
        </p:txBody>
      </p:sp>
      <p:sp>
        <p:nvSpPr>
          <p:cNvPr id="7" name="s07-step-4"/>
          <p:cNvSpPr/>
          <p:nvPr/>
        </p:nvSpPr>
        <p:spPr>
          <a:xfrm>
            <a:off x="457200" y="402336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4  Gắn Pod vào node</a:t>
            </a:r>
          </a:p>
        </p:txBody>
      </p:sp>
      <p:sp>
        <p:nvSpPr>
          <p:cNvPr id="8" name="s07-yaml"/>
          <p:cNvSpPr/>
          <p:nvPr/>
        </p:nvSpPr>
        <p:spPr>
          <a:xfrm>
            <a:off x="5852160" y="1691640"/>
            <a:ext cx="5852160" cy="3017520"/>
          </a:xfrm>
          <a:prstGeom prst="rect">
            <a:avLst/>
          </a:prstGeom>
          <a:solidFill>
            <a:srgbClr val="17132E"/>
          </a:solidFill>
          <a:ln w="19050">
            <a:solidFill>
              <a:srgbClr val="4B4678"/>
            </a:solidFill>
          </a:ln>
        </p:spPr>
        <p:txBody>
          <a:bodyPr rtlCol="0" anchor="ctr" wrap="square" lIns="182880" rIns="182880"/>
          <a:lstStyle/>
          <a:p>
            <a:pPr algn="l"/>
            <a:r>
              <a:rPr sz="1400" b="0" lang="vi-VN">
                <a:solidFill>
                  <a:srgbClr val="E6E4F5"/>
                </a:solidFill>
                <a:latin typeface="Courier New"/>
              </a:rPr>
              <a:t>kind: NodePool</a:t>
            </a:r>
          </a:p>
          <a:p>
            <a:pPr algn="l"/>
            <a:r>
              <a:rPr sz="1400" b="0" lang="vi-VN">
                <a:solidFill>
                  <a:srgbClr val="E6E4F5"/>
                </a:solidFill>
                <a:latin typeface="Courier New"/>
              </a:rPr>
              <a:t>spec:</a:t>
            </a:r>
          </a:p>
          <a:p>
            <a:pPr algn="l"/>
            <a:r>
              <a:rPr sz="1400" b="0" lang="vi-VN">
                <a:solidFill>
                  <a:srgbClr val="E6E4F5"/>
                </a:solidFill>
                <a:latin typeface="Courier New"/>
              </a:rPr>
              <a:t>  template:</a:t>
            </a:r>
          </a:p>
          <a:p>
            <a:pPr algn="l"/>
            <a:r>
              <a:rPr sz="1400" b="0" lang="vi-VN">
                <a:solidFill>
                  <a:srgbClr val="E6E4F5"/>
                </a:solidFill>
                <a:latin typeface="Courier New"/>
              </a:rPr>
              <a:t>    spec:</a:t>
            </a:r>
          </a:p>
          <a:p>
            <a:pPr algn="l"/>
            <a:r>
              <a:rPr sz="1400" b="0" lang="vi-VN">
                <a:solidFill>
                  <a:srgbClr val="E6E4F5"/>
                </a:solidFill>
                <a:latin typeface="Courier New"/>
              </a:rPr>
              <a:t>      requirements:</a:t>
            </a:r>
          </a:p>
          <a:p>
            <a:pPr algn="l"/>
            <a:r>
              <a:rPr sz="1400" b="0" lang="vi-VN">
                <a:solidFill>
                  <a:srgbClr val="E6E4F5"/>
                </a:solidFill>
                <a:latin typeface="Courier New"/>
              </a:rPr>
              <a:t>        - key: karpenter.sh/capacity-type</a:t>
            </a:r>
          </a:p>
          <a:p>
            <a:pPr algn="l"/>
            <a:r>
              <a:rPr sz="1400" b="0" lang="vi-VN">
                <a:solidFill>
                  <a:srgbClr val="E6E4F5"/>
                </a:solidFill>
                <a:latin typeface="Courier New"/>
              </a:rPr>
              <a:t>          values: ["spot", "on-demand"]</a:t>
            </a:r>
          </a:p>
          <a:p>
            <a:pPr algn="l"/>
            <a:r>
              <a:rPr sz="1400" b="0" lang="vi-VN">
                <a:solidFill>
                  <a:srgbClr val="E6E4F5"/>
                </a:solidFill>
                <a:latin typeface="Courier New"/>
              </a:rPr>
              <a:t>  disruption:</a:t>
            </a:r>
          </a:p>
          <a:p>
            <a:pPr algn="l"/>
            <a:r>
              <a:rPr sz="1400" b="0" lang="vi-VN">
                <a:solidFill>
                  <a:srgbClr val="E6E4F5"/>
                </a:solidFill>
                <a:latin typeface="Courier New"/>
              </a:rPr>
              <a:t>    consolidationPolicy: WhenEmptyOrUnderutilized</a:t>
            </a:r>
          </a:p>
          <a:p>
            <a:pPr algn="l"/>
            <a:r>
              <a:rPr sz="1400" b="0" lang="vi-VN">
                <a:solidFill>
                  <a:srgbClr val="E6E4F5"/>
                </a:solidFill>
                <a:latin typeface="Courier New"/>
              </a:rPr>
              <a:t>    consolidateAfter: 30s</a:t>
            </a:r>
          </a:p>
          <a:p>
            <a:pPr algn="l"/>
            <a:r>
              <a:rPr sz="1400" b="0" lang="vi-VN">
                <a:solidFill>
                  <a:srgbClr val="E6E4F5"/>
                </a:solidFill>
                <a:latin typeface="Courier New"/>
              </a:rPr>
              <a:t>  limits:</a:t>
            </a:r>
          </a:p>
          <a:p>
            <a:pPr algn="l"/>
            <a:r>
              <a:rPr sz="1400" b="0" lang="vi-VN">
                <a:solidFill>
                  <a:srgbClr val="E6E4F5"/>
                </a:solidFill>
                <a:latin typeface="Courier New"/>
              </a:rPr>
              <a:t>    cpu: "8"</a:t>
            </a:r>
          </a:p>
        </p:txBody>
      </p:sp>
      <p:sp>
        <p:nvSpPr>
          <p:cNvPr id="9" name="s07-sqs"/>
          <p:cNvSpPr/>
          <p:nvPr/>
        </p:nvSpPr>
        <p:spPr>
          <a:xfrm>
            <a:off x="457200" y="4937760"/>
            <a:ext cx="11247120" cy="731520"/>
          </a:xfrm>
          <a:prstGeom prst="roundRect">
            <a:avLst>
              <a:gd name="adj" fmla="val 8000"/>
            </a:avLst>
          </a:prstGeom>
          <a:solidFill>
            <a:srgbClr val="E97132"/>
          </a:solidFill>
          <a:ln>
            <a:noFill/>
          </a:ln>
        </p:spPr>
        <p:txBody>
          <a:bodyPr rtlCol="0" anchor="ctr" wrap="square"/>
          <a:lstStyle/>
          <a:p>
            <a:pPr algn="ctr"/>
            <a:r>
              <a:rPr sz="2000" b="1" lang="vi-VN">
                <a:solidFill>
                  <a:srgbClr val="08041B"/>
                </a:solidFill>
                <a:latin typeface="Arial"/>
              </a:rPr>
              <a:t>Spot sắp bị thu hồi → EventBridge → SQS → Karpenter dọn node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Demo: 1 cluster, 3 autoscaler, 1 ứng dụng</a:t>
            </a:r>
          </a:p>
        </p:txBody>
      </p:sp>
      <p:sp>
        <p:nvSpPr>
          <p:cNvPr id="3" name="diagram-frame"/>
          <p:cNvSpPr/>
          <p:nvPr/>
        </p:nvSpPr>
        <p:spPr>
          <a:xfrm>
            <a:off x="457200" y="1325880"/>
            <a:ext cx="11274552" cy="4572000"/>
          </a:xfrm>
          <a:prstGeom prst="roundRect">
            <a:avLst>
              <a:gd name="adj" fmla="val 3000"/>
            </a:avLst>
          </a:prstGeom>
          <a:noFill/>
          <a:ln w="25400">
            <a:solidFill>
              <a:srgbClr val="4B4678"/>
            </a:solidFill>
          </a:ln>
        </p:spPr>
        <p:txBody>
          <a:bodyPr rtlCol="0" anchor="t" wrap="square"/>
          <a:lstStyle/>
          <a:p>
            <a:pPr algn="l"/>
            <a:r>
              <a:rPr sz="1600" b="0" lang="vi-VN">
                <a:solidFill>
                  <a:srgbClr val="FFFFFF"/>
                </a:solidFill>
                <a:latin typeface="Arial"/>
              </a:rPr>
              <a:t/>
            </a:r>
          </a:p>
        </p:txBody>
      </p:sp>
      <p:sp>
        <p:nvSpPr>
          <p:cNvPr id="4" name="diagram-title"/>
          <p:cNvSpPr/>
          <p:nvPr/>
        </p:nvSpPr>
        <p:spPr>
          <a:xfrm>
            <a:off x="640080" y="1371600"/>
            <a:ext cx="10881360" cy="365760"/>
          </a:xfrm>
          <a:prstGeom prst="rect">
            <a:avLst/>
          </a:prstGeom>
          <a:noFill/>
          <a:ln>
            <a:noFill/>
          </a:ln>
        </p:spPr>
        <p:txBody>
          <a:bodyPr rtlCol="0" anchor="ctr" wrap="square"/>
          <a:lstStyle/>
          <a:p>
            <a:pPr algn="l"/>
            <a:r>
              <a:rPr sz="1600" b="1" lang="vi-VN">
                <a:solidFill>
                  <a:srgbClr val="E6E4F5"/>
                </a:solidFill>
                <a:latin typeface="Arial"/>
              </a:rPr>
              <a:t>EKS 1.35 · ap-southeast-1 · 3 AZ</a:t>
            </a:r>
          </a:p>
        </p:txBody>
      </p:sp>
      <p:sp>
        <p:nvSpPr>
          <p:cNvPr id="5" name="diagram-system"/>
          <p:cNvSpPr/>
          <p:nvPr/>
        </p:nvSpPr>
        <p:spPr>
          <a:xfrm>
            <a:off x="640080" y="1828800"/>
            <a:ext cx="5120640" cy="777240"/>
          </a:xfrm>
          <a:prstGeom prst="roundRect">
            <a:avLst>
              <a:gd name="adj" fmla="val 8000"/>
            </a:avLst>
          </a:prstGeom>
          <a:solidFill>
            <a:srgbClr val="2A2650"/>
          </a:solidFill>
          <a:ln>
            <a:noFill/>
          </a:ln>
        </p:spPr>
        <p:txBody>
          <a:bodyPr rtlCol="0" anchor="ctr" wrap="square"/>
          <a:lstStyle/>
          <a:p>
            <a:pPr algn="l"/>
            <a:r>
              <a:rPr sz="1600" b="0" lang="vi-VN">
                <a:solidFill>
                  <a:srgbClr val="FFFFFF"/>
                </a:solidFill>
                <a:latin typeface="Arial"/>
              </a:rPr>
              <a:t>Node hệ thống: 2 × On-Demand (CoreDNS, Karpenter, CA, OpenCost)</a:t>
            </a:r>
          </a:p>
        </p:txBody>
      </p:sp>
      <p:sp>
        <p:nvSpPr>
          <p:cNvPr id="6" name="diagram-opencost"/>
          <p:cNvSpPr/>
          <p:nvPr/>
        </p:nvSpPr>
        <p:spPr>
          <a:xfrm>
            <a:off x="5943600" y="1828800"/>
            <a:ext cx="5577840" cy="777240"/>
          </a:xfrm>
          <a:prstGeom prst="roundRect">
            <a:avLst>
              <a:gd name="adj" fmla="val 8000"/>
            </a:avLst>
          </a:prstGeom>
          <a:solidFill>
            <a:srgbClr val="2A2650"/>
          </a:solidFill>
          <a:ln>
            <a:noFill/>
          </a:ln>
        </p:spPr>
        <p:txBody>
          <a:bodyPr rtlCol="0" anchor="ctr" wrap="square"/>
          <a:lstStyle/>
          <a:p>
            <a:pPr algn="l"/>
            <a:r>
              <a:rPr sz="1600" b="0" lang="vi-VN">
                <a:solidFill>
                  <a:srgbClr val="FFFFFF"/>
                </a:solidFill>
                <a:latin typeface="Arial"/>
              </a:rPr>
              <a:t>Prometheus + OpenCost: chi phí theo namespace (ước tính)</a:t>
            </a:r>
          </a:p>
        </p:txBody>
      </p:sp>
      <p:sp>
        <p:nvSpPr>
          <p:cNvPr id="7" name="diagram-pool-1"/>
          <p:cNvSpPr/>
          <p:nvPr/>
        </p:nvSpPr>
        <p:spPr>
          <a:xfrm>
            <a:off x="640080" y="2834640"/>
            <a:ext cx="3474720" cy="1600200"/>
          </a:xfrm>
          <a:prstGeom prst="roundRect">
            <a:avLst>
              <a:gd name="adj" fmla="val 8000"/>
            </a:avLst>
          </a:prstGeom>
          <a:solidFill>
            <a:srgbClr val="0F9ED5"/>
          </a:solidFill>
          <a:ln>
            <a:noFill/>
          </a:ln>
        </p:spPr>
        <p:txBody>
          <a:bodyPr rtlCol="0" anchor="ctr" wrap="square" lIns="137160" rIns="137160"/>
          <a:lstStyle/>
          <a:p>
            <a:pPr algn="l"/>
            <a:r>
              <a:rPr sz="1800" b="1" lang="vi-VN">
                <a:solidFill>
                  <a:srgbClr val="08041B"/>
                </a:solidFill>
                <a:latin typeface="Arial"/>
              </a:rPr>
              <a:t>Cluster Autoscaler</a:t>
            </a:r>
          </a:p>
          <a:p>
            <a:pPr algn="l"/>
            <a:r>
              <a:rPr sz="1600" b="0" lang="vi-VN">
                <a:solidFill>
                  <a:srgbClr val="08041B"/>
                </a:solidFill>
                <a:latin typeface="Arial"/>
              </a:rPr>
              <a:t>pool ca · Spot node group, 0-4 node</a:t>
            </a:r>
          </a:p>
          <a:p>
            <a:pPr algn="l"/>
            <a:r>
              <a:rPr sz="1600" b="0" lang="vi-VN">
                <a:solidFill>
                  <a:srgbClr val="08041B"/>
                </a:solidFill>
                <a:latin typeface="Arial"/>
              </a:rPr>
              <a:t>nhãn + taint scaler=ca</a:t>
            </a:r>
          </a:p>
        </p:txBody>
      </p:sp>
      <p:sp>
        <p:nvSpPr>
          <p:cNvPr id="8" name="diagram-ns-1"/>
          <p:cNvSpPr/>
          <p:nvPr/>
        </p:nvSpPr>
        <p:spPr>
          <a:xfrm>
            <a:off x="640080" y="4572000"/>
            <a:ext cx="3474720" cy="502920"/>
          </a:xfrm>
          <a:prstGeom prst="roundRect">
            <a:avLst>
              <a:gd name="adj" fmla="val 8000"/>
            </a:avLst>
          </a:prstGeom>
          <a:noFill/>
          <a:ln w="25400">
            <a:solidFill>
              <a:srgbClr val="0F9ED5"/>
            </a:solidFill>
          </a:ln>
        </p:spPr>
        <p:txBody>
          <a:bodyPr rtlCol="0" anchor="ctr" wrap="square"/>
          <a:lstStyle/>
          <a:p>
            <a:pPr algn="ctr"/>
            <a:r>
              <a:rPr sz="1600" b="0" lang="vi-VN">
                <a:solidFill>
                  <a:srgbClr val="FFFFFF"/>
                </a:solidFill>
                <a:latin typeface="Arial"/>
              </a:rPr>
              <a:t>namespace boutique-ca</a:t>
            </a:r>
          </a:p>
        </p:txBody>
      </p:sp>
      <p:sp>
        <p:nvSpPr>
          <p:cNvPr id="9" name="diagram-pool-2"/>
          <p:cNvSpPr/>
          <p:nvPr/>
        </p:nvSpPr>
        <p:spPr>
          <a:xfrm>
            <a:off x="4357116" y="2834640"/>
            <a:ext cx="3474720" cy="1600200"/>
          </a:xfrm>
          <a:prstGeom prst="roundRect">
            <a:avLst>
              <a:gd name="adj" fmla="val 8000"/>
            </a:avLst>
          </a:prstGeom>
          <a:solidFill>
            <a:srgbClr val="FCA019"/>
          </a:solidFill>
          <a:ln>
            <a:noFill/>
          </a:ln>
        </p:spPr>
        <p:txBody>
          <a:bodyPr rtlCol="0" anchor="ctr" wrap="square" lIns="137160" rIns="137160"/>
          <a:lstStyle/>
          <a:p>
            <a:pPr algn="l"/>
            <a:r>
              <a:rPr sz="1800" b="1" lang="vi-VN">
                <a:solidFill>
                  <a:srgbClr val="08041B"/>
                </a:solidFill>
                <a:latin typeface="Arial"/>
              </a:rPr>
              <a:t>Karpenter</a:t>
            </a:r>
          </a:p>
          <a:p>
            <a:pPr algn="l"/>
            <a:r>
              <a:rPr sz="1600" b="0" lang="vi-VN">
                <a:solidFill>
                  <a:srgbClr val="08041B"/>
                </a:solidFill>
                <a:latin typeface="Arial"/>
              </a:rPr>
              <a:t>pool karpenter · NodePool Spot + On-Demand</a:t>
            </a:r>
          </a:p>
          <a:p>
            <a:pPr algn="l"/>
            <a:r>
              <a:rPr sz="1600" b="0" lang="vi-VN">
                <a:solidFill>
                  <a:srgbClr val="08041B"/>
                </a:solidFill>
                <a:latin typeface="Arial"/>
              </a:rPr>
              <a:t>nhãn + taint scaler=karpenter</a:t>
            </a:r>
          </a:p>
        </p:txBody>
      </p:sp>
      <p:sp>
        <p:nvSpPr>
          <p:cNvPr id="10" name="diagram-ns-2"/>
          <p:cNvSpPr/>
          <p:nvPr/>
        </p:nvSpPr>
        <p:spPr>
          <a:xfrm>
            <a:off x="4357116" y="4572000"/>
            <a:ext cx="3474720" cy="502920"/>
          </a:xfrm>
          <a:prstGeom prst="roundRect">
            <a:avLst>
              <a:gd name="adj" fmla="val 8000"/>
            </a:avLst>
          </a:prstGeom>
          <a:noFill/>
          <a:ln w="25400">
            <a:solidFill>
              <a:srgbClr val="FCA019"/>
            </a:solidFill>
          </a:ln>
        </p:spPr>
        <p:txBody>
          <a:bodyPr rtlCol="0" anchor="ctr" wrap="square"/>
          <a:lstStyle/>
          <a:p>
            <a:pPr algn="ctr"/>
            <a:r>
              <a:rPr sz="1600" b="0" lang="vi-VN">
                <a:solidFill>
                  <a:srgbClr val="FFFFFF"/>
                </a:solidFill>
                <a:latin typeface="Arial"/>
              </a:rPr>
              <a:t>namespace boutique-karpenter</a:t>
            </a:r>
          </a:p>
        </p:txBody>
      </p:sp>
      <p:sp>
        <p:nvSpPr>
          <p:cNvPr id="11" name="diagram-pool-3"/>
          <p:cNvSpPr/>
          <p:nvPr/>
        </p:nvSpPr>
        <p:spPr>
          <a:xfrm>
            <a:off x="8074152" y="2834640"/>
            <a:ext cx="3474720" cy="1600200"/>
          </a:xfrm>
          <a:prstGeom prst="roundRect">
            <a:avLst>
              <a:gd name="adj" fmla="val 8000"/>
            </a:avLst>
          </a:prstGeom>
          <a:solidFill>
            <a:srgbClr val="4EA72E"/>
          </a:solidFill>
          <a:ln>
            <a:noFill/>
          </a:ln>
        </p:spPr>
        <p:txBody>
          <a:bodyPr rtlCol="0" anchor="ctr" wrap="square" lIns="137160" rIns="137160"/>
          <a:lstStyle/>
          <a:p>
            <a:pPr algn="l"/>
            <a:r>
              <a:rPr sz="1800" b="1" lang="vi-VN">
                <a:solidFill>
                  <a:srgbClr val="08041B"/>
                </a:solidFill>
                <a:latin typeface="Arial"/>
              </a:rPr>
              <a:t>EKS Auto Mode</a:t>
            </a:r>
          </a:p>
          <a:p>
            <a:pPr algn="l"/>
            <a:r>
              <a:rPr sz="1600" b="0" lang="vi-VN">
                <a:solidFill>
                  <a:srgbClr val="08041B"/>
                </a:solidFill>
                <a:latin typeface="Arial"/>
              </a:rPr>
              <a:t>pool automode · NodePool do AWS quản lý</a:t>
            </a:r>
          </a:p>
          <a:p>
            <a:pPr algn="l"/>
            <a:r>
              <a:rPr sz="1600" b="0" lang="vi-VN">
                <a:solidFill>
                  <a:srgbClr val="08041B"/>
                </a:solidFill>
                <a:latin typeface="Arial"/>
              </a:rPr>
              <a:t>nhãn + taint scaler=automode</a:t>
            </a:r>
          </a:p>
        </p:txBody>
      </p:sp>
      <p:sp>
        <p:nvSpPr>
          <p:cNvPr id="12" name="diagram-ns-3"/>
          <p:cNvSpPr/>
          <p:nvPr/>
        </p:nvSpPr>
        <p:spPr>
          <a:xfrm>
            <a:off x="8074152" y="4572000"/>
            <a:ext cx="3474720" cy="502920"/>
          </a:xfrm>
          <a:prstGeom prst="roundRect">
            <a:avLst>
              <a:gd name="adj" fmla="val 8000"/>
            </a:avLst>
          </a:prstGeom>
          <a:noFill/>
          <a:ln w="25400">
            <a:solidFill>
              <a:srgbClr val="4EA72E"/>
            </a:solidFill>
          </a:ln>
        </p:spPr>
        <p:txBody>
          <a:bodyPr rtlCol="0" anchor="ctr" wrap="square"/>
          <a:lstStyle/>
          <a:p>
            <a:pPr algn="ctr"/>
            <a:r>
              <a:rPr sz="1600" b="0" lang="vi-VN">
                <a:solidFill>
                  <a:srgbClr val="FFFFFF"/>
                </a:solidFill>
                <a:latin typeface="Arial"/>
              </a:rPr>
              <a:t>namespace boutique-automode</a:t>
            </a:r>
          </a:p>
        </p:txBody>
      </p:sp>
      <p:sp>
        <p:nvSpPr>
          <p:cNvPr id="13" name="diagram-note"/>
          <p:cNvSpPr/>
          <p:nvPr/>
        </p:nvSpPr>
        <p:spPr>
          <a:xfrm>
            <a:off x="640080" y="5212080"/>
            <a:ext cx="10881360" cy="548640"/>
          </a:xfrm>
          <a:prstGeom prst="rect">
            <a:avLst/>
          </a:prstGeom>
          <a:noFill/>
          <a:ln>
            <a:noFill/>
          </a:ln>
        </p:spPr>
        <p:txBody>
          <a:bodyPr rtlCol="0" anchor="ctr" wrap="square"/>
          <a:lstStyle/>
          <a:p>
            <a:pPr algn="ctr"/>
            <a:r>
              <a:rPr sz="1600" b="0" lang="vi-VN">
                <a:solidFill>
                  <a:srgbClr val="E6E4F5"/>
                </a:solidFill>
                <a:latin typeface="Arial"/>
              </a:rPr>
              <a:t>Cùng một chart Online Boutique · cùng số replica · PDB + topology spread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Đo chi phí bằng OpenCost</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Prometheus thu số liệu, OpenCost nhân với giá, ra chi phí theo namespace.</a:t>
            </a:r>
          </a:p>
        </p:txBody>
      </p:sp>
      <p:sp>
        <p:nvSpPr>
          <p:cNvPr id="4" name="s09-flow-1"/>
          <p:cNvSpPr/>
          <p:nvPr/>
        </p:nvSpPr>
        <p:spPr>
          <a:xfrm>
            <a:off x="457200" y="1783080"/>
            <a:ext cx="2434590" cy="1143000"/>
          </a:xfrm>
          <a:prstGeom prst="roundRect">
            <a:avLst>
              <a:gd name="adj" fmla="val 8000"/>
            </a:avLst>
          </a:prstGeom>
          <a:solidFill>
            <a:srgbClr val="0F9ED5"/>
          </a:solidFill>
          <a:ln>
            <a:noFill/>
          </a:ln>
        </p:spPr>
        <p:txBody>
          <a:bodyPr rtlCol="0" anchor="ctr" wrap="square"/>
          <a:lstStyle/>
          <a:p>
            <a:pPr algn="ctr"/>
            <a:r>
              <a:rPr sz="2000" b="1" lang="vi-VN">
                <a:solidFill>
                  <a:srgbClr val="08041B"/>
                </a:solidFill>
                <a:latin typeface="Arial"/>
              </a:rPr>
              <a:t>Pod: CPU + RAM</a:t>
            </a:r>
          </a:p>
        </p:txBody>
      </p:sp>
      <p:sp>
        <p:nvSpPr>
          <p:cNvPr id="5" name="s09-flow-arrow-1"/>
          <p:cNvSpPr/>
          <p:nvPr/>
        </p:nvSpPr>
        <p:spPr>
          <a:xfrm>
            <a:off x="2964942" y="2171700"/>
            <a:ext cx="356616" cy="365760"/>
          </a:xfrm>
          <a:prstGeom prst="rightArrow">
            <a:avLst/>
          </a:prstGeom>
          <a:solidFill>
            <a:srgbClr val="E6E4F5"/>
          </a:solidFill>
          <a:ln>
            <a:noFill/>
          </a:ln>
        </p:spPr>
        <p:txBody>
          <a:bodyPr rtlCol="0" anchor="ctr"/>
          <a:lstStyle/>
          <a:p>
            <a:pPr algn="ctr"/>
          </a:p>
        </p:txBody>
      </p:sp>
      <p:sp>
        <p:nvSpPr>
          <p:cNvPr id="6" name="s09-flow-2"/>
          <p:cNvSpPr/>
          <p:nvPr/>
        </p:nvSpPr>
        <p:spPr>
          <a:xfrm>
            <a:off x="3394710" y="1783080"/>
            <a:ext cx="2434590" cy="114300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Prometheus</a:t>
            </a:r>
          </a:p>
        </p:txBody>
      </p:sp>
      <p:sp>
        <p:nvSpPr>
          <p:cNvPr id="7" name="s09-flow-arrow-2"/>
          <p:cNvSpPr/>
          <p:nvPr/>
        </p:nvSpPr>
        <p:spPr>
          <a:xfrm>
            <a:off x="5902452" y="2171700"/>
            <a:ext cx="356616" cy="365760"/>
          </a:xfrm>
          <a:prstGeom prst="rightArrow">
            <a:avLst/>
          </a:prstGeom>
          <a:solidFill>
            <a:srgbClr val="E6E4F5"/>
          </a:solidFill>
          <a:ln>
            <a:noFill/>
          </a:ln>
        </p:spPr>
        <p:txBody>
          <a:bodyPr rtlCol="0" anchor="ctr"/>
          <a:lstStyle/>
          <a:p>
            <a:pPr algn="ctr"/>
          </a:p>
        </p:txBody>
      </p:sp>
      <p:sp>
        <p:nvSpPr>
          <p:cNvPr id="8" name="s09-flow-3"/>
          <p:cNvSpPr/>
          <p:nvPr/>
        </p:nvSpPr>
        <p:spPr>
          <a:xfrm>
            <a:off x="6332220" y="1783080"/>
            <a:ext cx="2434590" cy="1143000"/>
          </a:xfrm>
          <a:prstGeom prst="roundRect">
            <a:avLst>
              <a:gd name="adj" fmla="val 8000"/>
            </a:avLst>
          </a:prstGeom>
          <a:solidFill>
            <a:srgbClr val="4EA72E"/>
          </a:solidFill>
          <a:ln>
            <a:noFill/>
          </a:ln>
        </p:spPr>
        <p:txBody>
          <a:bodyPr rtlCol="0" anchor="ctr" wrap="square"/>
          <a:lstStyle/>
          <a:p>
            <a:pPr algn="ctr"/>
            <a:r>
              <a:rPr sz="2000" b="1" lang="vi-VN">
                <a:solidFill>
                  <a:srgbClr val="08041B"/>
                </a:solidFill>
                <a:latin typeface="Arial"/>
              </a:rPr>
              <a:t>OpenCost</a:t>
            </a:r>
          </a:p>
        </p:txBody>
      </p:sp>
      <p:sp>
        <p:nvSpPr>
          <p:cNvPr id="9" name="s09-flow-arrow-3"/>
          <p:cNvSpPr/>
          <p:nvPr/>
        </p:nvSpPr>
        <p:spPr>
          <a:xfrm>
            <a:off x="8839962" y="2171700"/>
            <a:ext cx="356616" cy="365760"/>
          </a:xfrm>
          <a:prstGeom prst="rightArrow">
            <a:avLst/>
          </a:prstGeom>
          <a:solidFill>
            <a:srgbClr val="E6E4F5"/>
          </a:solidFill>
          <a:ln>
            <a:noFill/>
          </a:ln>
        </p:spPr>
        <p:txBody>
          <a:bodyPr rtlCol="0" anchor="ctr"/>
          <a:lstStyle/>
          <a:p>
            <a:pPr algn="ctr"/>
          </a:p>
        </p:txBody>
      </p:sp>
      <p:sp>
        <p:nvSpPr>
          <p:cNvPr id="10" name="s09-flow-4"/>
          <p:cNvSpPr/>
          <p:nvPr/>
        </p:nvSpPr>
        <p:spPr>
          <a:xfrm>
            <a:off x="9269730" y="1783080"/>
            <a:ext cx="2434590" cy="1143000"/>
          </a:xfrm>
          <a:prstGeom prst="roundRect">
            <a:avLst>
              <a:gd name="adj" fmla="val 8000"/>
            </a:avLst>
          </a:prstGeom>
          <a:solidFill>
            <a:srgbClr val="E97132"/>
          </a:solidFill>
          <a:ln>
            <a:noFill/>
          </a:ln>
        </p:spPr>
        <p:txBody>
          <a:bodyPr rtlCol="0" anchor="ctr" wrap="square"/>
          <a:lstStyle/>
          <a:p>
            <a:pPr algn="ctr"/>
            <a:r>
              <a:rPr sz="2000" b="1" lang="vi-VN">
                <a:solidFill>
                  <a:srgbClr val="08041B"/>
                </a:solidFill>
                <a:latin typeface="Arial"/>
              </a:rPr>
              <a:t>Chi phí theo</a:t>
            </a:r>
          </a:p>
          <a:p>
            <a:pPr algn="ctr"/>
            <a:r>
              <a:rPr sz="2000" b="1" lang="vi-VN">
                <a:solidFill>
                  <a:srgbClr val="08041B"/>
                </a:solidFill>
                <a:latin typeface="Arial"/>
              </a:rPr>
              <a:t>namespace</a:t>
            </a:r>
          </a:p>
          <a:p>
            <a:pPr algn="ctr"/>
            <a:r>
              <a:rPr sz="2000" b="1" lang="vi-VN">
                <a:solidFill>
                  <a:srgbClr val="08041B"/>
                </a:solidFill>
                <a:latin typeface="Arial"/>
              </a:rPr>
              <a:t>(ước tính)</a:t>
            </a:r>
          </a:p>
        </p:txBody>
      </p:sp>
      <p:sp>
        <p:nvSpPr>
          <p:cNvPr id="11" name="s09-reason-1"/>
          <p:cNvSpPr/>
          <p:nvPr/>
        </p:nvSpPr>
        <p:spPr>
          <a:xfrm>
            <a:off x="457200" y="324612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200" b="1" lang="vi-VN">
                <a:solidFill>
                  <a:srgbClr val="FFFFFF"/>
                </a:solidFill>
                <a:latin typeface="Arial"/>
              </a:rPr>
              <a:t>Mã nguồn mở (CNCF)</a:t>
            </a:r>
          </a:p>
        </p:txBody>
      </p:sp>
      <p:sp>
        <p:nvSpPr>
          <p:cNvPr id="12" name="s09-reason-2"/>
          <p:cNvSpPr/>
          <p:nvPr/>
        </p:nvSpPr>
        <p:spPr>
          <a:xfrm>
            <a:off x="4279392" y="324612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200" b="1" lang="vi-VN">
                <a:solidFill>
                  <a:srgbClr val="FFFFFF"/>
                </a:solidFill>
                <a:latin typeface="Arial"/>
              </a:rPr>
              <a:t>Nhẹ: một Prometheus nhỏ</a:t>
            </a:r>
          </a:p>
        </p:txBody>
      </p:sp>
      <p:sp>
        <p:nvSpPr>
          <p:cNvPr id="13" name="s09-reason-3"/>
          <p:cNvSpPr/>
          <p:nvPr/>
        </p:nvSpPr>
        <p:spPr>
          <a:xfrm>
            <a:off x="8101583" y="324612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200" b="1" lang="vi-VN">
                <a:solidFill>
                  <a:srgbClr val="FFFFFF"/>
                </a:solidFill>
                <a:latin typeface="Arial"/>
              </a:rPr>
              <a:t>Đủ dùng cho bài này</a:t>
            </a:r>
          </a:p>
        </p:txBody>
      </p:sp>
      <p:sp>
        <p:nvSpPr>
          <p:cNvPr id="14" name="s09-callout"/>
          <p:cNvSpPr/>
          <p:nvPr/>
        </p:nvSpPr>
        <p:spPr>
          <a:xfrm>
            <a:off x="457200" y="4846320"/>
            <a:ext cx="11247120" cy="77724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Ước tính theo giá list, không phải hóa đơn AWS. Kubecost = bản thương mại.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So sánh: CA vs Karpenter vs Auto Mode</a:t>
            </a:r>
          </a:p>
        </p:txBody>
      </p:sp>
      <p:graphicFrame>
        <p:nvGraphicFramePr>
          <p:cNvPr id="3" name="s10-table"/>
          <p:cNvGraphicFramePr>
            <a:graphicFrameLocks noGrp="1"/>
          </p:cNvGraphicFramePr>
          <p:nvPr/>
        </p:nvGraphicFramePr>
        <p:xfrm>
          <a:off x="457200" y="1280160"/>
          <a:ext cx="11247120" cy="2971800"/>
        </p:xfrm>
        <a:graphic>
          <a:graphicData uri="http://schemas.openxmlformats.org/drawingml/2006/table">
            <a:tbl>
              <a:tblPr firstRow="1">
                <a:tableStyleId>{2D5ABB26-0587-4C30-8999-92F81FD0307C}</a:tableStyleId>
              </a:tblPr>
              <a:tblGrid>
                <a:gridCol w="2194560"/>
                <a:gridCol w="3017520"/>
                <a:gridCol w="3017520"/>
                <a:gridCol w="3017520"/>
              </a:tblGrid>
              <a:tr h="411480">
                <a:tc>
                  <a:txBody>
                    <a:bodyPr wrap="square"/>
                    <a:lstStyle/>
                    <a:p>
                      <a:pPr algn="l"/>
                      <a:r>
                        <a:rPr sz="1800" b="1" lang="vi-VN">
                          <a:solidFill>
                            <a:srgbClr val="08041B"/>
                          </a:solidFill>
                          <a:latin typeface="Arial"/>
                        </a:rPr>
                        <a:t>Tiêu chí</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c>
                  <a:txBody>
                    <a:bodyPr wrap="square"/>
                    <a:lstStyle/>
                    <a:p>
                      <a:pPr algn="l"/>
                      <a:r>
                        <a:rPr sz="1800" b="1" lang="vi-VN">
                          <a:solidFill>
                            <a:srgbClr val="08041B"/>
                          </a:solidFill>
                          <a:latin typeface="Arial"/>
                        </a:rPr>
                        <a:t>Cluster Autoscaler</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c>
                  <a:txBody>
                    <a:bodyPr wrap="square"/>
                    <a:lstStyle/>
                    <a:p>
                      <a:pPr algn="l"/>
                      <a:r>
                        <a:rPr sz="1800" b="1" lang="vi-VN">
                          <a:solidFill>
                            <a:srgbClr val="08041B"/>
                          </a:solidFill>
                          <a:latin typeface="Arial"/>
                        </a:rPr>
                        <a:t>Karpenter</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c>
                  <a:txBody>
                    <a:bodyPr wrap="square"/>
                    <a:lstStyle/>
                    <a:p>
                      <a:pPr algn="l"/>
                      <a:r>
                        <a:rPr sz="1800" b="1" lang="vi-VN">
                          <a:solidFill>
                            <a:srgbClr val="08041B"/>
                          </a:solidFill>
                          <a:latin typeface="Arial"/>
                        </a:rPr>
                        <a:t>EKS Auto Mode</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r>
              <a:tr h="640080">
                <a:tc>
                  <a:txBody>
                    <a:bodyPr wrap="square"/>
                    <a:lstStyle/>
                    <a:p>
                      <a:pPr algn="l"/>
                      <a:r>
                        <a:rPr sz="1600" b="1" lang="vi-VN">
                          <a:solidFill>
                            <a:srgbClr val="FFFFFF"/>
                          </a:solidFill>
                          <a:latin typeface="Arial"/>
                        </a:rPr>
                        <a:t>1. Chi phí (ước tính)</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Node group có kích thước instance cố định. </a:t>
                      </a:r>
                    </a:p>
                    <a:p>
                      <a:pPr algn="l"/>
                      <a:r>
                        <a:rPr sz="1600" b="1" lang="vi-VN">
                          <a:solidFill>
                            <a:srgbClr val="FCA019"/>
                          </a:solidFill>
                          <a:latin typeface="Arial"/>
                        </a:rPr>
                        <a:t>Ước tính (OpenCost, giá list): $___/giờ</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Chọn instance theo pod, có consolidation. </a:t>
                      </a:r>
                    </a:p>
                    <a:p>
                      <a:pPr algn="l"/>
                      <a:r>
                        <a:rPr sz="1600" b="1" lang="vi-VN">
                          <a:solidFill>
                            <a:srgbClr val="FCA019"/>
                          </a:solidFill>
                          <a:latin typeface="Arial"/>
                        </a:rPr>
                        <a:t>Ước tính (OpenCost, giá list): $___/giờ</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Cơ chế như Karpenter, cộng phí quản lý ≈12% giá On-Demand. </a:t>
                      </a:r>
                    </a:p>
                    <a:p>
                      <a:pPr algn="l"/>
                      <a:r>
                        <a:rPr sz="1600" b="1" lang="vi-VN">
                          <a:solidFill>
                            <a:srgbClr val="FCA019"/>
                          </a:solidFill>
                          <a:latin typeface="Arial"/>
                        </a:rPr>
                        <a:t>Ước tính (OpenCost, giá list): $___/giờ, chưa gồm phí</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r h="640080">
                <a:tc>
                  <a:txBody>
                    <a:bodyPr wrap="square"/>
                    <a:lstStyle/>
                    <a:p>
                      <a:pPr algn="l"/>
                      <a:r>
                        <a:rPr sz="1600" b="1" lang="vi-VN">
                          <a:solidFill>
                            <a:srgbClr val="FFFFFF"/>
                          </a:solidFill>
                          <a:latin typeface="Arial"/>
                        </a:rPr>
                        <a:t>2. Thời gian scale-up (Pending → Ready)</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Pending → ASG → node group → node. </a:t>
                      </a:r>
                    </a:p>
                    <a:p>
                      <a:pPr algn="l"/>
                      <a:r>
                        <a:rPr sz="1600" b="1" lang="vi-VN">
                          <a:solidFill>
                            <a:srgbClr val="FCA019"/>
                          </a:solidFill>
                          <a:latin typeface="Arial"/>
                        </a:rPr>
                        <a:t>Đo: ___ s</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Gọi thẳng EC2 Fleet API, không qua ASG. </a:t>
                      </a:r>
                    </a:p>
                    <a:p>
                      <a:pPr algn="l"/>
                      <a:r>
                        <a:rPr sz="1600" b="1" lang="vi-VN">
                          <a:solidFill>
                            <a:srgbClr val="FCA019"/>
                          </a:solidFill>
                          <a:latin typeface="Arial"/>
                        </a:rPr>
                        <a:t>Đo: ___ s</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Karpenter do AWS vận hành. </a:t>
                      </a:r>
                    </a:p>
                    <a:p>
                      <a:pPr algn="l"/>
                      <a:r>
                        <a:rPr sz="1600" b="1" lang="vi-VN">
                          <a:solidFill>
                            <a:srgbClr val="FCA019"/>
                          </a:solidFill>
                          <a:latin typeface="Arial"/>
                        </a:rPr>
                        <a:t>Đo: ___ s</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r h="640080">
                <a:tc>
                  <a:txBody>
                    <a:bodyPr wrap="square"/>
                    <a:lstStyle/>
                    <a:p>
                      <a:pPr algn="l"/>
                      <a:r>
                        <a:rPr sz="1600" b="1" lang="vi-VN">
                          <a:solidFill>
                            <a:srgbClr val="FFFFFF"/>
                          </a:solidFill>
                          <a:latin typeface="Arial"/>
                        </a:rPr>
                        <a:t>3. Chịu lỗi (Spot bị thu hồi / node chết)</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Tùy cấu hình node group Spot (Capacity Rebalancing). </a:t>
                      </a:r>
                    </a:p>
                    <a:p>
                      <a:pPr algn="l"/>
                      <a:r>
                        <a:rPr sz="1600" b="1" lang="vi-VN">
                          <a:solidFill>
                            <a:srgbClr val="FCA019"/>
                          </a:solidFill>
                          <a:latin typeface="Arial"/>
                        </a:rPr>
                        <a:t>Đo: ___ s, ___% lỗi</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Nghe cảnh báo qua SQS, drain node, chọn instance khác. </a:t>
                      </a:r>
                    </a:p>
                    <a:p>
                      <a:pPr algn="l"/>
                      <a:r>
                        <a:rPr sz="1600" b="1" lang="vi-VN">
                          <a:solidFill>
                            <a:srgbClr val="FCA019"/>
                          </a:solidFill>
                          <a:latin typeface="Arial"/>
                        </a:rPr>
                        <a:t>Đo: ___ s, ___% lỗi</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AWS xử lý cảnh báo Spot và node lỗi. </a:t>
                      </a:r>
                    </a:p>
                    <a:p>
                      <a:pPr algn="l"/>
                      <a:r>
                        <a:rPr sz="1600" b="1" lang="vi-VN">
                          <a:solidFill>
                            <a:srgbClr val="FCA019"/>
                          </a:solidFill>
                          <a:latin typeface="Arial"/>
                        </a:rPr>
                        <a:t>Đo: ___ s, ___% lỗi</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r h="640080">
                <a:tc>
                  <a:txBody>
                    <a:bodyPr wrap="square"/>
                    <a:lstStyle/>
                    <a:p>
                      <a:pPr algn="l"/>
                      <a:r>
                        <a:rPr sz="1600" b="1" lang="vi-VN">
                          <a:solidFill>
                            <a:srgbClr val="FFFFFF"/>
                          </a:solidFill>
                          <a:latin typeface="Arial"/>
                        </a:rPr>
                        <a:t>4. Độ phức tạp vận hành</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Tự quản node group, AMI, nâng cấp</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Tự cài Helm + IAM + SQS; tự viết NodePool</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AWS quản lý node; node thay mới định kỳ (mặc định 14 ngày, tối đa 21)</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bl>
          </a:graphicData>
        </a:graphic>
      </p:graphicFrame>
      <p:sp>
        <p:nvSpPr>
          <p:cNvPr id="4" name="s10-footnote"/>
          <p:cNvSpPr/>
          <p:nvPr/>
        </p:nvSpPr>
        <p:spPr>
          <a:xfrm>
            <a:off x="457200" y="5440680"/>
            <a:ext cx="11247120" cy="548640"/>
          </a:xfrm>
          <a:prstGeom prst="rect">
            <a:avLst/>
          </a:prstGeom>
          <a:noFill/>
          <a:ln>
            <a:noFill/>
          </a:ln>
        </p:spPr>
        <p:txBody>
          <a:bodyPr rtlCol="0" anchor="ctr" wrap="square"/>
          <a:lstStyle/>
          <a:p>
            <a:pPr algn="l"/>
            <a:r>
              <a:rPr sz="1200" b="0" lang="vi-VN">
                <a:solidFill>
                  <a:srgbClr val="E6E4F5"/>
                </a:solidFill>
                <a:latin typeface="Arial"/>
              </a:rPr>
              <a:t>Ước tính theo giá list (Spot theo snapshot 2026-10-20, ap-southeast-1) · CA: cấu hình mặc định của node group Spot, scale-down chỉnh 2 phút · n = 3 · 1 region · 1 buổi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Demo 1: Scale-up bao nhiêu giây?</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Từ Pod Pending đến node Ready: bao nhiêu giây?</a:t>
            </a:r>
          </a:p>
        </p:txBody>
      </p:sp>
      <p:sp>
        <p:nvSpPr>
          <p:cNvPr id="4" name="s11-ca-card-body"/>
          <p:cNvSpPr/>
          <p:nvPr/>
        </p:nvSpPr>
        <p:spPr>
          <a:xfrm>
            <a:off x="457200" y="2240280"/>
            <a:ext cx="3611880" cy="1965960"/>
          </a:xfrm>
          <a:prstGeom prst="rect">
            <a:avLst/>
          </a:prstGeom>
          <a:solidFill>
            <a:srgbClr val="17132E"/>
          </a:solidFill>
          <a:ln w="19050">
            <a:solidFill>
              <a:srgbClr val="0F9ED5"/>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5" name="s11-ca-card-head"/>
          <p:cNvSpPr/>
          <p:nvPr/>
        </p:nvSpPr>
        <p:spPr>
          <a:xfrm>
            <a:off x="457200" y="1737360"/>
            <a:ext cx="3611880" cy="502920"/>
          </a:xfrm>
          <a:prstGeom prst="rect">
            <a:avLst/>
          </a:prstGeom>
          <a:solidFill>
            <a:srgbClr val="0F9ED5"/>
          </a:solidFill>
          <a:ln>
            <a:noFill/>
          </a:ln>
        </p:spPr>
        <p:txBody>
          <a:bodyPr rtlCol="0" anchor="ctr" wrap="square" lIns="137160" rIns="137160"/>
          <a:lstStyle/>
          <a:p>
            <a:pPr algn="l"/>
            <a:r>
              <a:rPr sz="2200" b="1" lang="vi-VN">
                <a:solidFill>
                  <a:srgbClr val="08041B"/>
                </a:solidFill>
                <a:latin typeface="Arial"/>
              </a:rPr>
              <a:t>Cluster Autoscaler</a:t>
            </a:r>
          </a:p>
        </p:txBody>
      </p:sp>
      <p:sp>
        <p:nvSpPr>
          <p:cNvPr id="6" name="s11-ca-prov"/>
          <p:cNvSpPr/>
          <p:nvPr/>
        </p:nvSpPr>
        <p:spPr>
          <a:xfrm>
            <a:off x="502920" y="2331720"/>
            <a:ext cx="3520440" cy="685800"/>
          </a:xfrm>
          <a:prstGeom prst="rect">
            <a:avLst/>
          </a:prstGeom>
          <a:noFill/>
          <a:ln>
            <a:noFill/>
          </a:ln>
        </p:spPr>
        <p:txBody>
          <a:bodyPr rtlCol="0" anchor="ctr" wrap="square"/>
          <a:lstStyle/>
          <a:p>
            <a:pPr algn="l"/>
            <a:r>
              <a:rPr sz="2200" b="1" lang="vi-VN">
                <a:solidFill>
                  <a:srgbClr val="FFFFFF"/>
                </a:solidFill>
                <a:latin typeface="Arial"/>
              </a:rPr>
              <a:t>TARGET: ___ s (điền sau khi đo)</a:t>
            </a:r>
          </a:p>
        </p:txBody>
      </p:sp>
      <p:sp>
        <p:nvSpPr>
          <p:cNvPr id="7" name="s11-ca-all"/>
          <p:cNvSpPr/>
          <p:nvPr/>
        </p:nvSpPr>
        <p:spPr>
          <a:xfrm>
            <a:off x="502920" y="3035808"/>
            <a:ext cx="3520440" cy="640080"/>
          </a:xfrm>
          <a:prstGeom prst="rect">
            <a:avLst/>
          </a:prstGeom>
          <a:noFill/>
          <a:ln>
            <a:noFill/>
          </a:ln>
        </p:spPr>
        <p:txBody>
          <a:bodyPr rtlCol="0" anchor="ctr" wrap="square"/>
          <a:lstStyle/>
          <a:p>
            <a:pPr algn="l"/>
            <a:r>
              <a:rPr sz="2000" b="0" lang="vi-VN">
                <a:solidFill>
                  <a:srgbClr val="FFFFFF"/>
                </a:solidFill>
                <a:latin typeface="Arial"/>
              </a:rPr>
              <a:t>Pod chạy hết: Đo: ___ s</a:t>
            </a:r>
          </a:p>
        </p:txBody>
      </p:sp>
      <p:sp>
        <p:nvSpPr>
          <p:cNvPr id="8" name="s11-ca-badge"/>
          <p:cNvSpPr/>
          <p:nvPr/>
        </p:nvSpPr>
        <p:spPr>
          <a:xfrm>
            <a:off x="502920" y="370332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9" name="s11-karpenter-card-body"/>
          <p:cNvSpPr/>
          <p:nvPr/>
        </p:nvSpPr>
        <p:spPr>
          <a:xfrm>
            <a:off x="4279392" y="2240280"/>
            <a:ext cx="3611880" cy="1965960"/>
          </a:xfrm>
          <a:prstGeom prst="rect">
            <a:avLst/>
          </a:prstGeom>
          <a:solidFill>
            <a:srgbClr val="17132E"/>
          </a:solidFill>
          <a:ln w="19050">
            <a:solidFill>
              <a:srgbClr val="FCA019"/>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0" name="s11-karpenter-card-head"/>
          <p:cNvSpPr/>
          <p:nvPr/>
        </p:nvSpPr>
        <p:spPr>
          <a:xfrm>
            <a:off x="4279392" y="1737360"/>
            <a:ext cx="3611880" cy="502920"/>
          </a:xfrm>
          <a:prstGeom prst="rect">
            <a:avLst/>
          </a:prstGeom>
          <a:solidFill>
            <a:srgbClr val="FCA019"/>
          </a:solidFill>
          <a:ln>
            <a:noFill/>
          </a:ln>
        </p:spPr>
        <p:txBody>
          <a:bodyPr rtlCol="0" anchor="ctr" wrap="square" lIns="137160" rIns="137160"/>
          <a:lstStyle/>
          <a:p>
            <a:pPr algn="l"/>
            <a:r>
              <a:rPr sz="2200" b="1" lang="vi-VN">
                <a:solidFill>
                  <a:srgbClr val="08041B"/>
                </a:solidFill>
                <a:latin typeface="Arial"/>
              </a:rPr>
              <a:t>Karpenter</a:t>
            </a:r>
          </a:p>
        </p:txBody>
      </p:sp>
      <p:sp>
        <p:nvSpPr>
          <p:cNvPr id="11" name="s11-karpenter-prov"/>
          <p:cNvSpPr/>
          <p:nvPr/>
        </p:nvSpPr>
        <p:spPr>
          <a:xfrm>
            <a:off x="4325112" y="2331720"/>
            <a:ext cx="3520440" cy="685800"/>
          </a:xfrm>
          <a:prstGeom prst="rect">
            <a:avLst/>
          </a:prstGeom>
          <a:noFill/>
          <a:ln>
            <a:noFill/>
          </a:ln>
        </p:spPr>
        <p:txBody>
          <a:bodyPr rtlCol="0" anchor="ctr" wrap="square"/>
          <a:lstStyle/>
          <a:p>
            <a:pPr algn="l"/>
            <a:r>
              <a:rPr sz="2200" b="1" lang="vi-VN">
                <a:solidFill>
                  <a:srgbClr val="FFFFFF"/>
                </a:solidFill>
                <a:latin typeface="Arial"/>
              </a:rPr>
              <a:t>TARGET: ___ s (điền sau khi đo)</a:t>
            </a:r>
          </a:p>
        </p:txBody>
      </p:sp>
      <p:sp>
        <p:nvSpPr>
          <p:cNvPr id="12" name="s11-karpenter-all"/>
          <p:cNvSpPr/>
          <p:nvPr/>
        </p:nvSpPr>
        <p:spPr>
          <a:xfrm>
            <a:off x="4325112" y="3035808"/>
            <a:ext cx="3520440" cy="640080"/>
          </a:xfrm>
          <a:prstGeom prst="rect">
            <a:avLst/>
          </a:prstGeom>
          <a:noFill/>
          <a:ln>
            <a:noFill/>
          </a:ln>
        </p:spPr>
        <p:txBody>
          <a:bodyPr rtlCol="0" anchor="ctr" wrap="square"/>
          <a:lstStyle/>
          <a:p>
            <a:pPr algn="l"/>
            <a:r>
              <a:rPr sz="2000" b="0" lang="vi-VN">
                <a:solidFill>
                  <a:srgbClr val="FFFFFF"/>
                </a:solidFill>
                <a:latin typeface="Arial"/>
              </a:rPr>
              <a:t>Pod chạy hết: Đo: ___ s</a:t>
            </a:r>
          </a:p>
        </p:txBody>
      </p:sp>
      <p:sp>
        <p:nvSpPr>
          <p:cNvPr id="13" name="s11-karpenter-badge"/>
          <p:cNvSpPr/>
          <p:nvPr/>
        </p:nvSpPr>
        <p:spPr>
          <a:xfrm>
            <a:off x="4325112" y="370332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4" name="s11-automode-card-body"/>
          <p:cNvSpPr/>
          <p:nvPr/>
        </p:nvSpPr>
        <p:spPr>
          <a:xfrm>
            <a:off x="8101583" y="2240280"/>
            <a:ext cx="3611880" cy="1965960"/>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5" name="s11-automode-card-head"/>
          <p:cNvSpPr/>
          <p:nvPr/>
        </p:nvSpPr>
        <p:spPr>
          <a:xfrm>
            <a:off x="8101583" y="1737360"/>
            <a:ext cx="3611880" cy="502920"/>
          </a:xfrm>
          <a:prstGeom prst="rect">
            <a:avLst/>
          </a:prstGeom>
          <a:solidFill>
            <a:srgbClr val="4EA72E"/>
          </a:solidFill>
          <a:ln>
            <a:noFill/>
          </a:ln>
        </p:spPr>
        <p:txBody>
          <a:bodyPr rtlCol="0" anchor="ctr" wrap="square" lIns="137160" rIns="137160"/>
          <a:lstStyle/>
          <a:p>
            <a:pPr algn="l"/>
            <a:r>
              <a:rPr sz="2200" b="1" lang="vi-VN">
                <a:solidFill>
                  <a:srgbClr val="08041B"/>
                </a:solidFill>
                <a:latin typeface="Arial"/>
              </a:rPr>
              <a:t>EKS Auto Mode</a:t>
            </a:r>
          </a:p>
        </p:txBody>
      </p:sp>
      <p:sp>
        <p:nvSpPr>
          <p:cNvPr id="16" name="s11-automode-prov"/>
          <p:cNvSpPr/>
          <p:nvPr/>
        </p:nvSpPr>
        <p:spPr>
          <a:xfrm>
            <a:off x="8147304" y="2331720"/>
            <a:ext cx="3520440" cy="685800"/>
          </a:xfrm>
          <a:prstGeom prst="rect">
            <a:avLst/>
          </a:prstGeom>
          <a:noFill/>
          <a:ln>
            <a:noFill/>
          </a:ln>
        </p:spPr>
        <p:txBody>
          <a:bodyPr rtlCol="0" anchor="ctr" wrap="square"/>
          <a:lstStyle/>
          <a:p>
            <a:pPr algn="l"/>
            <a:r>
              <a:rPr sz="2200" b="1" lang="vi-VN">
                <a:solidFill>
                  <a:srgbClr val="FFFFFF"/>
                </a:solidFill>
                <a:latin typeface="Arial"/>
              </a:rPr>
              <a:t>TARGET: ___ s (điền sau khi đo)</a:t>
            </a:r>
          </a:p>
        </p:txBody>
      </p:sp>
      <p:sp>
        <p:nvSpPr>
          <p:cNvPr id="17" name="s11-automode-all"/>
          <p:cNvSpPr/>
          <p:nvPr/>
        </p:nvSpPr>
        <p:spPr>
          <a:xfrm>
            <a:off x="8147304" y="3035808"/>
            <a:ext cx="3520440" cy="640080"/>
          </a:xfrm>
          <a:prstGeom prst="rect">
            <a:avLst/>
          </a:prstGeom>
          <a:noFill/>
          <a:ln>
            <a:noFill/>
          </a:ln>
        </p:spPr>
        <p:txBody>
          <a:bodyPr rtlCol="0" anchor="ctr" wrap="square"/>
          <a:lstStyle/>
          <a:p>
            <a:pPr algn="l"/>
            <a:r>
              <a:rPr sz="2000" b="0" lang="vi-VN">
                <a:solidFill>
                  <a:srgbClr val="FFFFFF"/>
                </a:solidFill>
                <a:latin typeface="Arial"/>
              </a:rPr>
              <a:t>Pod chạy hết: Đo: ___ s</a:t>
            </a:r>
          </a:p>
        </p:txBody>
      </p:sp>
      <p:sp>
        <p:nvSpPr>
          <p:cNvPr id="18" name="s11-automode-badge"/>
          <p:cNvSpPr/>
          <p:nvPr/>
        </p:nvSpPr>
        <p:spPr>
          <a:xfrm>
            <a:off x="8147304" y="370332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9" name="s11-method"/>
          <p:cNvSpPr/>
          <p:nvPr/>
        </p:nvSpPr>
        <p:spPr>
          <a:xfrm>
            <a:off x="457200" y="4434840"/>
            <a:ext cx="11247120" cy="822960"/>
          </a:xfrm>
          <a:prstGeom prst="rect">
            <a:avLst/>
          </a:prstGeom>
          <a:noFill/>
          <a:ln>
            <a:noFill/>
          </a:ln>
        </p:spPr>
        <p:txBody>
          <a:bodyPr rtlCol="0" anchor="ctr" wrap="square"/>
          <a:lstStyle/>
          <a:p>
            <a:pPr algn="l"/>
            <a:r>
              <a:rPr sz="2000" b="0" lang="vi-VN">
                <a:solidFill>
                  <a:srgbClr val="E6E4F5"/>
                </a:solidFill>
                <a:latin typeface="Arial"/>
              </a:rPr>
              <a:t>Cách đo: Pod Pending → node đầu tiên Ready · 4 Pod × 1 vCPU · pool bắt đầu từ 0 node</a:t>
            </a:r>
          </a:p>
        </p:txBody>
      </p:sp>
      <p:sp>
        <p:nvSpPr>
          <p:cNvPr id="20" name="s11-footnote"/>
          <p:cNvSpPr/>
          <p:nvPr/>
        </p:nvSpPr>
        <p:spPr>
          <a:xfrm>
            <a:off x="457200" y="5577840"/>
            <a:ext cx="11247120" cy="457200"/>
          </a:xfrm>
          <a:prstGeom prst="rect">
            <a:avLst/>
          </a:prstGeom>
          <a:noFill/>
          <a:ln>
            <a:noFill/>
          </a:ln>
        </p:spPr>
        <p:txBody>
          <a:bodyPr rtlCol="0" anchor="ctr" wrap="square"/>
          <a:lstStyle/>
          <a:p>
            <a:pPr algn="l"/>
            <a:r>
              <a:rPr sz="1200" b="0" lang="vi-VN">
                <a:solidFill>
                  <a:srgbClr val="E6E4F5"/>
                </a:solidFill>
                <a:latin typeface="Arial"/>
              </a:rPr>
              <a:t>Giây: lấy từ API server, trung vị 3 lần, bỏ lần chạy lạnh. Chi phí (nếu có) chỉ là ước tính theo giá list. 1 region · 1 buổi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Demo 2: Rút điện một node</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Tắt một node đang chạy: ứng dụng có sống không?</a:t>
            </a:r>
          </a:p>
        </p:txBody>
      </p:sp>
      <p:sp>
        <p:nvSpPr>
          <p:cNvPr id="4" name="s12-step-1"/>
          <p:cNvSpPr/>
          <p:nvPr/>
        </p:nvSpPr>
        <p:spPr>
          <a:xfrm>
            <a:off x="457200" y="1691640"/>
            <a:ext cx="3200400" cy="822960"/>
          </a:xfrm>
          <a:prstGeom prst="roundRect">
            <a:avLst>
              <a:gd name="adj" fmla="val 8000"/>
            </a:avLst>
          </a:prstGeom>
          <a:solidFill>
            <a:srgbClr val="E97132"/>
          </a:solidFill>
          <a:ln>
            <a:noFill/>
          </a:ln>
        </p:spPr>
        <p:txBody>
          <a:bodyPr rtlCol="0" anchor="ctr" wrap="square"/>
          <a:lstStyle/>
          <a:p>
            <a:pPr algn="ctr"/>
            <a:r>
              <a:rPr sz="2200" b="1" lang="vi-VN">
                <a:solidFill>
                  <a:srgbClr val="08041B"/>
                </a:solidFill>
                <a:latin typeface="Arial"/>
              </a:rPr>
              <a:t>Rút điện 1 node</a:t>
            </a:r>
          </a:p>
        </p:txBody>
      </p:sp>
      <p:sp>
        <p:nvSpPr>
          <p:cNvPr id="5" name="s12-arrow-1"/>
          <p:cNvSpPr/>
          <p:nvPr/>
        </p:nvSpPr>
        <p:spPr>
          <a:xfrm>
            <a:off x="3794760" y="1920240"/>
            <a:ext cx="548640" cy="365760"/>
          </a:xfrm>
          <a:prstGeom prst="rightArrow">
            <a:avLst/>
          </a:prstGeom>
          <a:solidFill>
            <a:srgbClr val="E6E4F5"/>
          </a:solidFill>
          <a:ln>
            <a:noFill/>
          </a:ln>
        </p:spPr>
        <p:txBody>
          <a:bodyPr rtlCol="0" anchor="ctr"/>
          <a:lstStyle/>
          <a:p>
            <a:pPr algn="ctr"/>
          </a:p>
        </p:txBody>
      </p:sp>
      <p:sp>
        <p:nvSpPr>
          <p:cNvPr id="6" name="s12-step-2"/>
          <p:cNvSpPr/>
          <p:nvPr/>
        </p:nvSpPr>
        <p:spPr>
          <a:xfrm>
            <a:off x="4480560" y="1691640"/>
            <a:ext cx="3200400" cy="822960"/>
          </a:xfrm>
          <a:prstGeom prst="roundRect">
            <a:avLst>
              <a:gd name="adj" fmla="val 8000"/>
            </a:avLst>
          </a:prstGeom>
          <a:solidFill>
            <a:srgbClr val="FCA019"/>
          </a:solidFill>
          <a:ln>
            <a:noFill/>
          </a:ln>
        </p:spPr>
        <p:txBody>
          <a:bodyPr rtlCol="0" anchor="ctr" wrap="square"/>
          <a:lstStyle/>
          <a:p>
            <a:pPr algn="ctr"/>
            <a:r>
              <a:rPr sz="2200" b="1" lang="vi-VN">
                <a:solidFill>
                  <a:srgbClr val="08041B"/>
                </a:solidFill>
                <a:latin typeface="Arial"/>
              </a:rPr>
              <a:t>Node thay thế lên</a:t>
            </a:r>
          </a:p>
        </p:txBody>
      </p:sp>
      <p:sp>
        <p:nvSpPr>
          <p:cNvPr id="7" name="s12-arrow-2"/>
          <p:cNvSpPr/>
          <p:nvPr/>
        </p:nvSpPr>
        <p:spPr>
          <a:xfrm>
            <a:off x="7818120" y="1920240"/>
            <a:ext cx="548640" cy="365760"/>
          </a:xfrm>
          <a:prstGeom prst="rightArrow">
            <a:avLst/>
          </a:prstGeom>
          <a:solidFill>
            <a:srgbClr val="E6E4F5"/>
          </a:solidFill>
          <a:ln>
            <a:noFill/>
          </a:ln>
        </p:spPr>
        <p:txBody>
          <a:bodyPr rtlCol="0" anchor="ctr"/>
          <a:lstStyle/>
          <a:p>
            <a:pPr algn="ctr"/>
          </a:p>
        </p:txBody>
      </p:sp>
      <p:sp>
        <p:nvSpPr>
          <p:cNvPr id="8" name="s12-step-3"/>
          <p:cNvSpPr/>
          <p:nvPr/>
        </p:nvSpPr>
        <p:spPr>
          <a:xfrm>
            <a:off x="8503920" y="1691640"/>
            <a:ext cx="3200400" cy="822960"/>
          </a:xfrm>
          <a:prstGeom prst="roundRect">
            <a:avLst>
              <a:gd name="adj" fmla="val 8000"/>
            </a:avLst>
          </a:prstGeom>
          <a:solidFill>
            <a:srgbClr val="4EA72E"/>
          </a:solidFill>
          <a:ln>
            <a:noFill/>
          </a:ln>
        </p:spPr>
        <p:txBody>
          <a:bodyPr rtlCol="0" anchor="ctr" wrap="square"/>
          <a:lstStyle/>
          <a:p>
            <a:pPr algn="ctr"/>
            <a:r>
              <a:rPr sz="2200" b="1" lang="vi-VN">
                <a:solidFill>
                  <a:srgbClr val="08041B"/>
                </a:solidFill>
                <a:latin typeface="Arial"/>
              </a:rPr>
              <a:t>Pod Ready lại</a:t>
            </a:r>
          </a:p>
        </p:txBody>
      </p:sp>
      <p:sp>
        <p:nvSpPr>
          <p:cNvPr id="9" name="s12-ca-card-body"/>
          <p:cNvSpPr/>
          <p:nvPr/>
        </p:nvSpPr>
        <p:spPr>
          <a:xfrm>
            <a:off x="457200" y="3246120"/>
            <a:ext cx="3611880" cy="2194560"/>
          </a:xfrm>
          <a:prstGeom prst="rect">
            <a:avLst/>
          </a:prstGeom>
          <a:solidFill>
            <a:srgbClr val="17132E"/>
          </a:solidFill>
          <a:ln w="19050">
            <a:solidFill>
              <a:srgbClr val="0F9ED5"/>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0" name="s12-ca-card-head"/>
          <p:cNvSpPr/>
          <p:nvPr/>
        </p:nvSpPr>
        <p:spPr>
          <a:xfrm>
            <a:off x="457200" y="2743200"/>
            <a:ext cx="3611880" cy="502920"/>
          </a:xfrm>
          <a:prstGeom prst="rect">
            <a:avLst/>
          </a:prstGeom>
          <a:solidFill>
            <a:srgbClr val="0F9ED5"/>
          </a:solidFill>
          <a:ln>
            <a:noFill/>
          </a:ln>
        </p:spPr>
        <p:txBody>
          <a:bodyPr rtlCol="0" anchor="ctr" wrap="square" lIns="137160" rIns="137160"/>
          <a:lstStyle/>
          <a:p>
            <a:pPr algn="l"/>
            <a:r>
              <a:rPr sz="2200" b="1" lang="vi-VN">
                <a:solidFill>
                  <a:srgbClr val="08041B"/>
                </a:solidFill>
                <a:latin typeface="Arial"/>
              </a:rPr>
              <a:t>Cluster Autoscaler</a:t>
            </a:r>
          </a:p>
        </p:txBody>
      </p:sp>
      <p:sp>
        <p:nvSpPr>
          <p:cNvPr id="11" name="s12-ca-rec"/>
          <p:cNvSpPr/>
          <p:nvPr/>
        </p:nvSpPr>
        <p:spPr>
          <a:xfrm>
            <a:off x="502920" y="3337560"/>
            <a:ext cx="3520440" cy="731520"/>
          </a:xfrm>
          <a:prstGeom prst="rect">
            <a:avLst/>
          </a:prstGeom>
          <a:noFill/>
          <a:ln>
            <a:noFill/>
          </a:ln>
        </p:spPr>
        <p:txBody>
          <a:bodyPr rtlCol="0" anchor="ctr" wrap="square"/>
          <a:lstStyle/>
          <a:p>
            <a:pPr algn="l"/>
            <a:r>
              <a:rPr sz="2200" b="1" lang="vi-VN">
                <a:solidFill>
                  <a:srgbClr val="FFFFFF"/>
                </a:solidFill>
                <a:latin typeface="Arial"/>
              </a:rPr>
              <a:t>Phục hồi: Đo: ___ s</a:t>
            </a:r>
          </a:p>
        </p:txBody>
      </p:sp>
      <p:sp>
        <p:nvSpPr>
          <p:cNvPr id="12" name="s12-ca-fail"/>
          <p:cNvSpPr/>
          <p:nvPr/>
        </p:nvSpPr>
        <p:spPr>
          <a:xfrm>
            <a:off x="502920" y="4114800"/>
            <a:ext cx="3520440" cy="731520"/>
          </a:xfrm>
          <a:prstGeom prst="rect">
            <a:avLst/>
          </a:prstGeom>
          <a:noFill/>
          <a:ln>
            <a:noFill/>
          </a:ln>
        </p:spPr>
        <p:txBody>
          <a:bodyPr rtlCol="0" anchor="ctr" wrap="square"/>
          <a:lstStyle/>
          <a:p>
            <a:pPr algn="l"/>
            <a:r>
              <a:rPr sz="2000" b="0" lang="vi-VN">
                <a:solidFill>
                  <a:srgbClr val="FFFFFF"/>
                </a:solidFill>
                <a:latin typeface="Arial"/>
              </a:rPr>
              <a:t>Request lỗi: Đo: ___%</a:t>
            </a:r>
          </a:p>
        </p:txBody>
      </p:sp>
      <p:sp>
        <p:nvSpPr>
          <p:cNvPr id="13" name="s12-ca-badge"/>
          <p:cNvSpPr/>
          <p:nvPr/>
        </p:nvSpPr>
        <p:spPr>
          <a:xfrm>
            <a:off x="502920" y="489204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4" name="s12-karpenter-card-body"/>
          <p:cNvSpPr/>
          <p:nvPr/>
        </p:nvSpPr>
        <p:spPr>
          <a:xfrm>
            <a:off x="4279392" y="3246120"/>
            <a:ext cx="3611880" cy="2194560"/>
          </a:xfrm>
          <a:prstGeom prst="rect">
            <a:avLst/>
          </a:prstGeom>
          <a:solidFill>
            <a:srgbClr val="17132E"/>
          </a:solidFill>
          <a:ln w="19050">
            <a:solidFill>
              <a:srgbClr val="FCA019"/>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5" name="s12-karpenter-card-head"/>
          <p:cNvSpPr/>
          <p:nvPr/>
        </p:nvSpPr>
        <p:spPr>
          <a:xfrm>
            <a:off x="4279392" y="2743200"/>
            <a:ext cx="3611880" cy="502920"/>
          </a:xfrm>
          <a:prstGeom prst="rect">
            <a:avLst/>
          </a:prstGeom>
          <a:solidFill>
            <a:srgbClr val="FCA019"/>
          </a:solidFill>
          <a:ln>
            <a:noFill/>
          </a:ln>
        </p:spPr>
        <p:txBody>
          <a:bodyPr rtlCol="0" anchor="ctr" wrap="square" lIns="137160" rIns="137160"/>
          <a:lstStyle/>
          <a:p>
            <a:pPr algn="l"/>
            <a:r>
              <a:rPr sz="2200" b="1" lang="vi-VN">
                <a:solidFill>
                  <a:srgbClr val="08041B"/>
                </a:solidFill>
                <a:latin typeface="Arial"/>
              </a:rPr>
              <a:t>Karpenter</a:t>
            </a:r>
          </a:p>
        </p:txBody>
      </p:sp>
      <p:sp>
        <p:nvSpPr>
          <p:cNvPr id="16" name="s12-karpenter-rec"/>
          <p:cNvSpPr/>
          <p:nvPr/>
        </p:nvSpPr>
        <p:spPr>
          <a:xfrm>
            <a:off x="4325112" y="3337560"/>
            <a:ext cx="3520440" cy="731520"/>
          </a:xfrm>
          <a:prstGeom prst="rect">
            <a:avLst/>
          </a:prstGeom>
          <a:noFill/>
          <a:ln>
            <a:noFill/>
          </a:ln>
        </p:spPr>
        <p:txBody>
          <a:bodyPr rtlCol="0" anchor="ctr" wrap="square"/>
          <a:lstStyle/>
          <a:p>
            <a:pPr algn="l"/>
            <a:r>
              <a:rPr sz="2200" b="1" lang="vi-VN">
                <a:solidFill>
                  <a:srgbClr val="FFFFFF"/>
                </a:solidFill>
                <a:latin typeface="Arial"/>
              </a:rPr>
              <a:t>Phục hồi: Đo: ___ s</a:t>
            </a:r>
          </a:p>
        </p:txBody>
      </p:sp>
      <p:sp>
        <p:nvSpPr>
          <p:cNvPr id="17" name="s12-karpenter-fail"/>
          <p:cNvSpPr/>
          <p:nvPr/>
        </p:nvSpPr>
        <p:spPr>
          <a:xfrm>
            <a:off x="4325112" y="4114800"/>
            <a:ext cx="3520440" cy="731520"/>
          </a:xfrm>
          <a:prstGeom prst="rect">
            <a:avLst/>
          </a:prstGeom>
          <a:noFill/>
          <a:ln>
            <a:noFill/>
          </a:ln>
        </p:spPr>
        <p:txBody>
          <a:bodyPr rtlCol="0" anchor="ctr" wrap="square"/>
          <a:lstStyle/>
          <a:p>
            <a:pPr algn="l"/>
            <a:r>
              <a:rPr sz="2000" b="0" lang="vi-VN">
                <a:solidFill>
                  <a:srgbClr val="FFFFFF"/>
                </a:solidFill>
                <a:latin typeface="Arial"/>
              </a:rPr>
              <a:t>Request lỗi: Đo: ___%</a:t>
            </a:r>
          </a:p>
        </p:txBody>
      </p:sp>
      <p:sp>
        <p:nvSpPr>
          <p:cNvPr id="18" name="s12-karpenter-badge"/>
          <p:cNvSpPr/>
          <p:nvPr/>
        </p:nvSpPr>
        <p:spPr>
          <a:xfrm>
            <a:off x="4325112" y="489204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9" name="s12-automode-card-body"/>
          <p:cNvSpPr/>
          <p:nvPr/>
        </p:nvSpPr>
        <p:spPr>
          <a:xfrm>
            <a:off x="8101583" y="3246120"/>
            <a:ext cx="3611880" cy="2194560"/>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20" name="s12-automode-card-head"/>
          <p:cNvSpPr/>
          <p:nvPr/>
        </p:nvSpPr>
        <p:spPr>
          <a:xfrm>
            <a:off x="8101583" y="2743200"/>
            <a:ext cx="3611880" cy="502920"/>
          </a:xfrm>
          <a:prstGeom prst="rect">
            <a:avLst/>
          </a:prstGeom>
          <a:solidFill>
            <a:srgbClr val="4EA72E"/>
          </a:solidFill>
          <a:ln>
            <a:noFill/>
          </a:ln>
        </p:spPr>
        <p:txBody>
          <a:bodyPr rtlCol="0" anchor="ctr" wrap="square" lIns="137160" rIns="137160"/>
          <a:lstStyle/>
          <a:p>
            <a:pPr algn="l"/>
            <a:r>
              <a:rPr sz="2200" b="1" lang="vi-VN">
                <a:solidFill>
                  <a:srgbClr val="08041B"/>
                </a:solidFill>
                <a:latin typeface="Arial"/>
              </a:rPr>
              <a:t>EKS Auto Mode</a:t>
            </a:r>
          </a:p>
        </p:txBody>
      </p:sp>
      <p:sp>
        <p:nvSpPr>
          <p:cNvPr id="21" name="s12-automode-rec"/>
          <p:cNvSpPr/>
          <p:nvPr/>
        </p:nvSpPr>
        <p:spPr>
          <a:xfrm>
            <a:off x="8147304" y="3337560"/>
            <a:ext cx="3520440" cy="731520"/>
          </a:xfrm>
          <a:prstGeom prst="rect">
            <a:avLst/>
          </a:prstGeom>
          <a:noFill/>
          <a:ln>
            <a:noFill/>
          </a:ln>
        </p:spPr>
        <p:txBody>
          <a:bodyPr rtlCol="0" anchor="ctr" wrap="square"/>
          <a:lstStyle/>
          <a:p>
            <a:pPr algn="l"/>
            <a:r>
              <a:rPr sz="2200" b="1" lang="vi-VN">
                <a:solidFill>
                  <a:srgbClr val="FFFFFF"/>
                </a:solidFill>
                <a:latin typeface="Arial"/>
              </a:rPr>
              <a:t>Phục hồi: Đo: ___ s</a:t>
            </a:r>
          </a:p>
        </p:txBody>
      </p:sp>
      <p:sp>
        <p:nvSpPr>
          <p:cNvPr id="22" name="s12-automode-fail"/>
          <p:cNvSpPr/>
          <p:nvPr/>
        </p:nvSpPr>
        <p:spPr>
          <a:xfrm>
            <a:off x="8147304" y="4114800"/>
            <a:ext cx="3520440" cy="731520"/>
          </a:xfrm>
          <a:prstGeom prst="rect">
            <a:avLst/>
          </a:prstGeom>
          <a:noFill/>
          <a:ln>
            <a:noFill/>
          </a:ln>
        </p:spPr>
        <p:txBody>
          <a:bodyPr rtlCol="0" anchor="ctr" wrap="square"/>
          <a:lstStyle/>
          <a:p>
            <a:pPr algn="l"/>
            <a:r>
              <a:rPr sz="2000" b="0" lang="vi-VN">
                <a:solidFill>
                  <a:srgbClr val="FFFFFF"/>
                </a:solidFill>
                <a:latin typeface="Arial"/>
              </a:rPr>
              <a:t>Request lỗi: Đo: ___%</a:t>
            </a:r>
          </a:p>
        </p:txBody>
      </p:sp>
      <p:sp>
        <p:nvSpPr>
          <p:cNvPr id="23" name="s12-automode-badge"/>
          <p:cNvSpPr/>
          <p:nvPr/>
        </p:nvSpPr>
        <p:spPr>
          <a:xfrm>
            <a:off x="8147304" y="489204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24" name="s12-footnote"/>
          <p:cNvSpPr/>
          <p:nvPr/>
        </p:nvSpPr>
        <p:spPr>
          <a:xfrm>
            <a:off x="457200" y="5486400"/>
            <a:ext cx="11247120" cy="457200"/>
          </a:xfrm>
          <a:prstGeom prst="rect">
            <a:avLst/>
          </a:prstGeom>
          <a:noFill/>
          <a:ln>
            <a:noFill/>
          </a:ln>
        </p:spPr>
        <p:txBody>
          <a:bodyPr rtlCol="0" anchor="ctr" wrap="square"/>
          <a:lstStyle/>
          <a:p>
            <a:pPr algn="l"/>
            <a:r>
              <a:rPr sz="1200" b="0" lang="vi-VN">
                <a:solidFill>
                  <a:srgbClr val="E6E4F5"/>
                </a:solidFill>
                <a:latin typeface="Arial"/>
              </a:rPr>
              <a:t>Thời điểm kill lấy từ đồng hồ máy chạy script: sai số khoảng 2 giây. n = 3 · 1 region · 1 buổi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Bài học &amp; những cái bẫy</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Sáu việc cần làm trước khi tin vào Spot.</a:t>
            </a:r>
          </a:p>
        </p:txBody>
      </p:sp>
      <p:sp>
        <p:nvSpPr>
          <p:cNvPr id="4" name="s13-item-1"/>
          <p:cNvSpPr/>
          <p:nvPr/>
        </p:nvSpPr>
        <p:spPr>
          <a:xfrm>
            <a:off x="457200" y="1691640"/>
            <a:ext cx="3611880" cy="1463040"/>
          </a:xfrm>
          <a:prstGeom prst="roundRect">
            <a:avLst>
              <a:gd name="adj" fmla="val 8000"/>
            </a:avLst>
          </a:prstGeom>
          <a:solidFill>
            <a:srgbClr val="17132E"/>
          </a:solidFill>
          <a:ln w="19050">
            <a:solidFill>
              <a:srgbClr val="4EA72E"/>
            </a:solidFill>
          </a:ln>
        </p:spPr>
        <p:txBody>
          <a:bodyPr rtlCol="0" anchor="ctr" wrap="square" lIns="137160" rIns="137160"/>
          <a:lstStyle/>
          <a:p>
            <a:pPr algn="l"/>
            <a:r>
              <a:rPr sz="2200" b="1" lang="vi-VN">
                <a:solidFill>
                  <a:srgbClr val="4EA72E"/>
                </a:solidFill>
                <a:latin typeface="Arial"/>
              </a:rPr>
              <a:t>1  Nhiều AZ</a:t>
            </a:r>
          </a:p>
          <a:p>
            <a:pPr algn="l"/>
            <a:r>
              <a:rPr sz="2000" b="0" lang="vi-VN">
                <a:solidFill>
                  <a:srgbClr val="FFFFFF"/>
                </a:solidFill>
                <a:latin typeface="Arial"/>
              </a:rPr>
              <a:t>Rải Pod qua nhiều vùng</a:t>
            </a:r>
          </a:p>
        </p:txBody>
      </p:sp>
      <p:sp>
        <p:nvSpPr>
          <p:cNvPr id="5" name="s13-item-2"/>
          <p:cNvSpPr/>
          <p:nvPr/>
        </p:nvSpPr>
        <p:spPr>
          <a:xfrm>
            <a:off x="4279392" y="1691640"/>
            <a:ext cx="3611880" cy="1463040"/>
          </a:xfrm>
          <a:prstGeom prst="roundRect">
            <a:avLst>
              <a:gd name="adj" fmla="val 8000"/>
            </a:avLst>
          </a:prstGeom>
          <a:solidFill>
            <a:srgbClr val="17132E"/>
          </a:solidFill>
          <a:ln w="19050">
            <a:solidFill>
              <a:srgbClr val="0F9ED5"/>
            </a:solidFill>
          </a:ln>
        </p:spPr>
        <p:txBody>
          <a:bodyPr rtlCol="0" anchor="ctr" wrap="square" lIns="137160" rIns="137160"/>
          <a:lstStyle/>
          <a:p>
            <a:pPr algn="l"/>
            <a:r>
              <a:rPr sz="2200" b="1" lang="vi-VN">
                <a:solidFill>
                  <a:srgbClr val="0F9ED5"/>
                </a:solidFill>
                <a:latin typeface="Arial"/>
              </a:rPr>
              <a:t>2  Nhiều loại máy</a:t>
            </a:r>
          </a:p>
          <a:p>
            <a:pPr algn="l"/>
            <a:r>
              <a:rPr sz="2000" b="0" lang="vi-VN">
                <a:solidFill>
                  <a:srgbClr val="FFFFFF"/>
                </a:solidFill>
                <a:latin typeface="Arial"/>
              </a:rPr>
              <a:t>Đừng khóa một instance type</a:t>
            </a:r>
          </a:p>
        </p:txBody>
      </p:sp>
      <p:sp>
        <p:nvSpPr>
          <p:cNvPr id="6" name="s13-item-3"/>
          <p:cNvSpPr/>
          <p:nvPr/>
        </p:nvSpPr>
        <p:spPr>
          <a:xfrm>
            <a:off x="8101583" y="1691640"/>
            <a:ext cx="3611880" cy="1463040"/>
          </a:xfrm>
          <a:prstGeom prst="roundRect">
            <a:avLst>
              <a:gd name="adj" fmla="val 8000"/>
            </a:avLst>
          </a:prstGeom>
          <a:solidFill>
            <a:srgbClr val="17132E"/>
          </a:solidFill>
          <a:ln w="19050">
            <a:solidFill>
              <a:srgbClr val="FCA019"/>
            </a:solidFill>
          </a:ln>
        </p:spPr>
        <p:txBody>
          <a:bodyPr rtlCol="0" anchor="ctr" wrap="square" lIns="137160" rIns="137160"/>
          <a:lstStyle/>
          <a:p>
            <a:pPr algn="l"/>
            <a:r>
              <a:rPr sz="2200" b="1" lang="vi-VN">
                <a:solidFill>
                  <a:srgbClr val="FCA019"/>
                </a:solidFill>
                <a:latin typeface="Arial"/>
              </a:rPr>
              <a:t>3  PodDisruptionBudget</a:t>
            </a:r>
          </a:p>
          <a:p>
            <a:pPr algn="l"/>
            <a:r>
              <a:rPr sz="2000" b="0" lang="vi-VN">
                <a:solidFill>
                  <a:srgbClr val="FFFFFF"/>
                </a:solidFill>
                <a:latin typeface="Arial"/>
              </a:rPr>
              <a:t>Giới hạn số Pod bị tắt cùng lúc</a:t>
            </a:r>
          </a:p>
        </p:txBody>
      </p:sp>
      <p:sp>
        <p:nvSpPr>
          <p:cNvPr id="7" name="s13-item-4"/>
          <p:cNvSpPr/>
          <p:nvPr/>
        </p:nvSpPr>
        <p:spPr>
          <a:xfrm>
            <a:off x="457200" y="3291840"/>
            <a:ext cx="3611880" cy="1463040"/>
          </a:xfrm>
          <a:prstGeom prst="roundRect">
            <a:avLst>
              <a:gd name="adj" fmla="val 8000"/>
            </a:avLst>
          </a:prstGeom>
          <a:solidFill>
            <a:srgbClr val="17132E"/>
          </a:solidFill>
          <a:ln w="19050">
            <a:solidFill>
              <a:srgbClr val="4EA72E"/>
            </a:solidFill>
          </a:ln>
        </p:spPr>
        <p:txBody>
          <a:bodyPr rtlCol="0" anchor="ctr" wrap="square" lIns="137160" rIns="137160"/>
          <a:lstStyle/>
          <a:p>
            <a:pPr algn="l"/>
            <a:r>
              <a:rPr sz="2200" b="1" lang="vi-VN">
                <a:solidFill>
                  <a:srgbClr val="4EA72E"/>
                </a:solidFill>
                <a:latin typeface="Arial"/>
              </a:rPr>
              <a:t>4  Topology spread</a:t>
            </a:r>
          </a:p>
          <a:p>
            <a:pPr algn="l"/>
            <a:r>
              <a:rPr sz="2000" b="0" lang="vi-VN">
                <a:solidFill>
                  <a:srgbClr val="FFFFFF"/>
                </a:solidFill>
                <a:latin typeface="Arial"/>
              </a:rPr>
              <a:t>Pod không dồn một chỗ</a:t>
            </a:r>
          </a:p>
        </p:txBody>
      </p:sp>
      <p:sp>
        <p:nvSpPr>
          <p:cNvPr id="8" name="s13-item-5"/>
          <p:cNvSpPr/>
          <p:nvPr/>
        </p:nvSpPr>
        <p:spPr>
          <a:xfrm>
            <a:off x="4279392" y="3291840"/>
            <a:ext cx="3611880" cy="1463040"/>
          </a:xfrm>
          <a:prstGeom prst="roundRect">
            <a:avLst>
              <a:gd name="adj" fmla="val 8000"/>
            </a:avLst>
          </a:prstGeom>
          <a:solidFill>
            <a:srgbClr val="17132E"/>
          </a:solidFill>
          <a:ln w="19050">
            <a:solidFill>
              <a:srgbClr val="0F9ED5"/>
            </a:solidFill>
          </a:ln>
        </p:spPr>
        <p:txBody>
          <a:bodyPr rtlCol="0" anchor="ctr" wrap="square" lIns="137160" rIns="137160"/>
          <a:lstStyle/>
          <a:p>
            <a:pPr algn="l"/>
            <a:r>
              <a:rPr sz="2200" b="1" lang="vi-VN">
                <a:solidFill>
                  <a:srgbClr val="0F9ED5"/>
                </a:solidFill>
                <a:latin typeface="Arial"/>
              </a:rPr>
              <a:t>5  Dự phòng On-Demand</a:t>
            </a:r>
          </a:p>
          <a:p>
            <a:pPr algn="l"/>
            <a:r>
              <a:rPr sz="2000" b="0" lang="vi-VN">
                <a:solidFill>
                  <a:srgbClr val="FFFFFF"/>
                </a:solidFill>
                <a:latin typeface="Arial"/>
              </a:rPr>
              <a:t>Khi Spot hết chỗ</a:t>
            </a:r>
          </a:p>
        </p:txBody>
      </p:sp>
      <p:sp>
        <p:nvSpPr>
          <p:cNvPr id="9" name="s13-item-6"/>
          <p:cNvSpPr/>
          <p:nvPr/>
        </p:nvSpPr>
        <p:spPr>
          <a:xfrm>
            <a:off x="8101583" y="3291840"/>
            <a:ext cx="3611880" cy="1463040"/>
          </a:xfrm>
          <a:prstGeom prst="roundRect">
            <a:avLst>
              <a:gd name="adj" fmla="val 8000"/>
            </a:avLst>
          </a:prstGeom>
          <a:solidFill>
            <a:srgbClr val="17132E"/>
          </a:solidFill>
          <a:ln w="19050">
            <a:solidFill>
              <a:srgbClr val="E97132"/>
            </a:solidFill>
          </a:ln>
        </p:spPr>
        <p:txBody>
          <a:bodyPr rtlCol="0" anchor="ctr" wrap="square" lIns="137160" rIns="137160"/>
          <a:lstStyle/>
          <a:p>
            <a:pPr algn="l"/>
            <a:r>
              <a:rPr sz="2200" b="1" lang="vi-VN">
                <a:solidFill>
                  <a:srgbClr val="E97132"/>
                </a:solidFill>
                <a:latin typeface="Arial"/>
              </a:rPr>
              <a:t>6  Đủ IP trong subnet</a:t>
            </a:r>
          </a:p>
          <a:p>
            <a:pPr algn="l"/>
            <a:r>
              <a:rPr sz="2000" b="0" lang="vi-VN">
                <a:solidFill>
                  <a:srgbClr val="FFFFFF"/>
                </a:solidFill>
                <a:latin typeface="Arial"/>
              </a:rPr>
              <a:t>/24 = 256 IP (AWS giữ 5)</a:t>
            </a:r>
          </a:p>
        </p:txBody>
      </p:sp>
      <p:sp>
        <p:nvSpPr>
          <p:cNvPr id="10" name="s13-banner"/>
          <p:cNvSpPr/>
          <p:nvPr/>
        </p:nvSpPr>
        <p:spPr>
          <a:xfrm>
            <a:off x="457200" y="4937760"/>
            <a:ext cx="11247120" cy="64008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Nhiều node Spot có thể bị thu hồi cùng lúc: nhiều AZ và dự phòng giúp hệ thống vẫn sống.</a:t>
            </a:r>
          </a:p>
        </p:txBody>
      </p:sp>
      <p:sp>
        <p:nvSpPr>
          <p:cNvPr id="11" name="s13-footnote"/>
          <p:cNvSpPr/>
          <p:nvPr/>
        </p:nvSpPr>
        <p:spPr>
          <a:xfrm>
            <a:off x="457200" y="5623560"/>
            <a:ext cx="11247120" cy="365760"/>
          </a:xfrm>
          <a:prstGeom prst="rect">
            <a:avLst/>
          </a:prstGeom>
          <a:noFill/>
          <a:ln>
            <a:noFill/>
          </a:ln>
        </p:spPr>
        <p:txBody>
          <a:bodyPr rtlCol="0" anchor="ctr" wrap="square"/>
          <a:lstStyle/>
          <a:p>
            <a:pPr algn="l"/>
            <a:r>
              <a:rPr sz="1200" b="0" lang="vi-VN">
                <a:solidFill>
                  <a:srgbClr val="E6E4F5"/>
                </a:solidFill>
                <a:latin typeface="Arial"/>
              </a:rPr>
              <a:t>Nguồn: AWS Spot best practices; tài liệu AWS VPC (subnet CIDR)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Mang về nhà</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Ba điều mang về.</a:t>
            </a:r>
          </a:p>
        </p:txBody>
      </p:sp>
      <p:sp>
        <p:nvSpPr>
          <p:cNvPr id="4" name="s14-chip-1"/>
          <p:cNvSpPr/>
          <p:nvPr/>
        </p:nvSpPr>
        <p:spPr>
          <a:xfrm>
            <a:off x="457200" y="169164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800" b="1" lang="vi-VN">
                <a:solidFill>
                  <a:srgbClr val="FCA019"/>
                </a:solidFill>
                <a:latin typeface="Arial"/>
              </a:rPr>
              <a:t>1</a:t>
            </a:r>
          </a:p>
          <a:p>
            <a:pPr algn="ctr"/>
            <a:r>
              <a:rPr sz="2200" b="1" lang="vi-VN">
                <a:solidFill>
                  <a:srgbClr val="FFFFFF"/>
                </a:solidFill>
                <a:latin typeface="Arial"/>
              </a:rPr>
              <a:t>Thiết kế để chịu được bị tắt</a:t>
            </a:r>
          </a:p>
        </p:txBody>
      </p:sp>
      <p:sp>
        <p:nvSpPr>
          <p:cNvPr id="5" name="s14-chip-2"/>
          <p:cNvSpPr/>
          <p:nvPr/>
        </p:nvSpPr>
        <p:spPr>
          <a:xfrm>
            <a:off x="4279392" y="169164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800" b="1" lang="vi-VN">
                <a:solidFill>
                  <a:srgbClr val="FCA019"/>
                </a:solidFill>
                <a:latin typeface="Arial"/>
              </a:rPr>
              <a:t>2</a:t>
            </a:r>
          </a:p>
          <a:p>
            <a:pPr algn="ctr"/>
            <a:r>
              <a:rPr sz="2200" b="1" lang="vi-VN">
                <a:solidFill>
                  <a:srgbClr val="FFFFFF"/>
                </a:solidFill>
                <a:latin typeface="Arial"/>
              </a:rPr>
              <a:t>Đo trong hệ thống của bạn</a:t>
            </a:r>
          </a:p>
        </p:txBody>
      </p:sp>
      <p:sp>
        <p:nvSpPr>
          <p:cNvPr id="6" name="s14-chip-3"/>
          <p:cNvSpPr/>
          <p:nvPr/>
        </p:nvSpPr>
        <p:spPr>
          <a:xfrm>
            <a:off x="8101583" y="169164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800" b="1" lang="vi-VN">
                <a:solidFill>
                  <a:srgbClr val="FCA019"/>
                </a:solidFill>
                <a:latin typeface="Arial"/>
              </a:rPr>
              <a:t>3</a:t>
            </a:r>
          </a:p>
          <a:p>
            <a:pPr algn="ctr"/>
            <a:r>
              <a:rPr sz="2200" b="1" lang="vi-VN">
                <a:solidFill>
                  <a:srgbClr val="FFFFFF"/>
                </a:solidFill>
                <a:latin typeface="Arial"/>
              </a:rPr>
              <a:t>Đo chi phí trước khi tối ưu</a:t>
            </a:r>
          </a:p>
        </p:txBody>
      </p:sp>
      <p:sp>
        <p:nvSpPr>
          <p:cNvPr id="7" name="s14-resources"/>
          <p:cNvSpPr/>
          <p:nvPr/>
        </p:nvSpPr>
        <p:spPr>
          <a:xfrm>
            <a:off x="457200" y="3246120"/>
            <a:ext cx="11247120" cy="1234440"/>
          </a:xfrm>
          <a:prstGeom prst="roundRect">
            <a:avLst>
              <a:gd name="adj" fmla="val 8000"/>
            </a:avLst>
          </a:prstGeom>
          <a:solidFill>
            <a:srgbClr val="17132E"/>
          </a:solidFill>
          <a:ln w="19050">
            <a:solidFill>
              <a:srgbClr val="4B4678"/>
            </a:solidFill>
          </a:ln>
        </p:spPr>
        <p:txBody>
          <a:bodyPr rtlCol="0" anchor="ctr" wrap="square" lIns="182880" rIns="182880"/>
          <a:lstStyle/>
          <a:p>
            <a:pPr algn="l"/>
            <a:r>
              <a:rPr sz="1600" b="1" lang="vi-VN">
                <a:solidFill>
                  <a:srgbClr val="FCA019"/>
                </a:solidFill>
                <a:latin typeface="Arial"/>
              </a:rPr>
              <a:t>Tài liệu học tiếp</a:t>
            </a:r>
          </a:p>
          <a:p>
            <a:pPr algn="l"/>
            <a:r>
              <a:rPr sz="1600" b="0" lang="vi-VN">
                <a:solidFill>
                  <a:srgbClr val="FFFFFF"/>
                </a:solidFill>
                <a:latin typeface="Arial"/>
              </a:rPr>
              <a:t>opencost.io  ·  karpenter.sh  ·  docs.aws.amazon.com/eks (EKS Auto Mode)  ·  finops.org</a:t>
            </a:r>
          </a:p>
        </p:txBody>
      </p:sp>
      <p:sp>
        <p:nvSpPr>
          <p:cNvPr id="8" name="s14-banner"/>
          <p:cNvSpPr/>
          <p:nvPr/>
        </p:nvSpPr>
        <p:spPr>
          <a:xfrm>
            <a:off x="457200" y="4663440"/>
            <a:ext cx="11247120" cy="731520"/>
          </a:xfrm>
          <a:prstGeom prst="roundRect">
            <a:avLst>
              <a:gd name="adj" fmla="val 8000"/>
            </a:avLst>
          </a:prstGeom>
          <a:solidFill>
            <a:srgbClr val="FCA019"/>
          </a:solidFill>
          <a:ln>
            <a:noFill/>
          </a:ln>
        </p:spPr>
        <p:txBody>
          <a:bodyPr rtlCol="0" anchor="ctr" wrap="square"/>
          <a:lstStyle/>
          <a:p>
            <a:pPr algn="ctr"/>
            <a:r>
              <a:rPr sz="2400" b="1" lang="vi-VN">
                <a:solidFill>
                  <a:srgbClr val="08041B"/>
                </a:solidFill>
                <a:latin typeface="Arial"/>
              </a:rPr>
              <a:t>Hãy thử Spot + Karpenter với chi phí thấp nhất</a:t>
            </a:r>
          </a:p>
        </p:txBody>
      </p:sp>
      <p:sp>
        <p:nvSpPr>
          <p:cNvPr id="9" name="s14-qa"/>
          <p:cNvSpPr/>
          <p:nvPr/>
        </p:nvSpPr>
        <p:spPr>
          <a:xfrm>
            <a:off x="457200" y="5486400"/>
            <a:ext cx="11247120" cy="457200"/>
          </a:xfrm>
          <a:prstGeom prst="rect">
            <a:avLst/>
          </a:prstGeom>
          <a:noFill/>
          <a:ln>
            <a:noFill/>
          </a:ln>
        </p:spPr>
        <p:txBody>
          <a:bodyPr rtlCol="0" anchor="ctr" wrap="square"/>
          <a:lstStyle/>
          <a:p>
            <a:pPr algn="ctr"/>
            <a:r>
              <a:rPr sz="2000" b="0" lang="vi-VN">
                <a:solidFill>
                  <a:srgbClr val="E6E4F5"/>
                </a:solidFill>
                <a:latin typeface="Arial"/>
              </a:rPr>
              <a:t>Hỏi đáp  ·  Nhớ xóa cluster demo sau khi thử</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210</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Amazon Ember</vt:lpstr>
      <vt:lpstr>Aptos</vt:lpstr>
      <vt:lpstr>Aptos Display</vt:lpstr>
      <vt:lpstr>Arial</vt:lpstr>
      <vt:lpstr>Custom Design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 + Karpenter: Uptime cao, chi phí thấp</dc:title>
  <dc:creator>Nguyễn Đức Toàn</dc:creator>
  <cp:lastModifiedBy>Nguyễn Đức Toàn</cp:lastModifiedBy>
  <cp:revision>1</cp:revision>
  <dcterms:created xsi:type="dcterms:W3CDTF">2026-10-20T00:00:00Z</dcterms:created>
  <dcterms:modified xsi:type="dcterms:W3CDTF">2026-10-20T00:00:00Z</dcterms:modified>
  <dc:subject>FinOps trên EKS: Spot, Karpenter, OpenCost</dc:subject>
  <cp:keywords>Spot, Karpenter, EKS Auto Mode, OpenCost, FinOps</cp:keywords>
</cp:coreProperties>
</file>